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2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61" r:id="rId7"/>
    <p:sldId id="258" r:id="rId8"/>
    <p:sldId id="259" r:id="rId9"/>
    <p:sldId id="274" r:id="rId10"/>
    <p:sldId id="275" r:id="rId11"/>
    <p:sldId id="276" r:id="rId12"/>
    <p:sldId id="277" r:id="rId13"/>
    <p:sldId id="281" r:id="rId14"/>
    <p:sldId id="282" r:id="rId15"/>
    <p:sldId id="278" r:id="rId16"/>
    <p:sldId id="283" r:id="rId17"/>
    <p:sldId id="279" r:id="rId18"/>
    <p:sldId id="284" r:id="rId19"/>
    <p:sldId id="285" r:id="rId20"/>
    <p:sldId id="291" r:id="rId21"/>
    <p:sldId id="288" r:id="rId22"/>
    <p:sldId id="286" r:id="rId23"/>
    <p:sldId id="289" r:id="rId24"/>
    <p:sldId id="290" r:id="rId25"/>
    <p:sldId id="293" r:id="rId26"/>
    <p:sldId id="292" r:id="rId27"/>
    <p:sldId id="267" r:id="rId28"/>
    <p:sldId id="265" r:id="rId29"/>
    <p:sldId id="262" r:id="rId30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  <p:cmAuthor id="4" name="Leonardo Nascimento" initials="LN" lastIdx="6" clrIdx="3">
    <p:extLst>
      <p:ext uri="{19B8F6BF-5375-455C-9EA6-DF929625EA0E}">
        <p15:presenceInfo xmlns:p15="http://schemas.microsoft.com/office/powerpoint/2012/main" userId="b33ccf9e6f72ae1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6959"/>
    <a:srgbClr val="192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40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commentAuthors" Target="commentAuthors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6-01-27T15:22:08.521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  <p:cm authorId="4" dt="2026-01-27T15:22:25.876" idx="2">
    <p:pos x="146" y="146"/>
    <p:text>Anotações para o orador:
Introduza o agro como motor econômico e altamente dependente de financiamento.
Destaque a limitação dos métodos atuais de PDD frente às especificidades do setor.
Apresente a proposta como uma evolução analítica orientada à decisão e à gestão de risco.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6-01-27T15:26:00.161" idx="3">
    <p:pos x="10" y="10"/>
    <p:text>Anotações para o orador:
Destaque a limitação dos métodos atuais de PDD frente às especificidades do setor.
Apresente a proposta como uma evolução analítica orientada à decisão e à gestão de risco.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6-02-03T17:06:48.870" idx="5">
    <p:pos x="10" y="10"/>
    <p:text>Linhas de crédito ESG (E=Ambiente, S=Social, G=Governça) são financiamentos que oferecem taxas, prazos ou condições diferenciadas para empresas que adotam práticas ambientais, sociais e de governança. Focadas em sustentabilidade, financiam projetos de energia renovável, eficiência energética, tratamento de resíduos, e iniciativas sociais. Bancos como Itaú, BNDES e ABC Brasil oferecem essas soluções para fomentar a economia verde.</p:text>
    <p:extLst>
      <p:ext uri="{C676402C-5697-4E1C-873F-D02D1690AC5C}">
        <p15:threadingInfo xmlns:p15="http://schemas.microsoft.com/office/powerpoint/2012/main" timeZoneBias="180"/>
      </p:ext>
    </p:extLs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1031E8A-CF84-4732-8D35-3D2895D0A4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E19B421-B688-4474-833E-B8E5A11D86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E772C96-AF7B-461A-93F1-E5A64CB313EA}" type="datetime1">
              <a:rPr lang="pt-BR" smtClean="0"/>
              <a:t>04/02/2026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10D9811-8024-41AF-B0E3-ADEAB28E22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D288F8F7-8FD9-4330-81DB-53C4324300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D4C8993-06F1-4105-B80F-22BBB2D599B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050182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9F0B7-85E1-46F0-9201-968C8E4DEE0F}" type="datetime1">
              <a:rPr lang="pt-BR" smtClean="0"/>
              <a:pPr/>
              <a:t>04/02/2026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3D1BA25-45AC-0C48-96BD-5DDCEEC5AF57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7667015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7361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027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78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070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1703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7305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D933-EB7D-3403-B5CC-D2FB3C077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5D0AE0-3BD9-EC47-8855-59568C5B8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3A83578-CCB1-5182-A262-4C54D32D7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F84233D-9212-604D-DB8B-B069A9E61C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2107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CA261-D8A6-4EAE-28B9-A7925D744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150164-5D51-2345-D90A-973B5B532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D8D704-BE56-75B2-E757-17AC39830C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4BE56EA-7701-5C50-29E0-40638293F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1166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DA0CF-593D-5E5E-C490-B544CA916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BA30942-B204-35AB-6720-4AC2B6E48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6289E2-3078-9DDB-1D3F-2604A54F1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CF08DC3-5540-E00A-CBD3-9EB7919D54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0623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C38F-CB5F-5676-8E26-40AB25868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09F0F4-EB8C-3A36-4515-0198309FC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2BB40B-31BB-C5CC-8A0E-7C1FE0D95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E3AFF5-C1A1-7C17-BCFF-AA6DC4625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550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88D3-718F-1098-C28F-759DA382F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BEE343-3944-555E-C096-882EF975D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9675CE1-F211-7A59-7631-4F704B17B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93FF41-DCA8-D3BF-D263-EF2EE00FB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59076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74055-A53E-6882-BD46-0D56D9E97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37B076-A1EC-250F-F8E7-080A6C6553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BE2854-43D5-D557-7010-01DC25A49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DB26210-069E-5D14-2611-7461FA96A5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7504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EE86E-F6AB-784C-EAAC-673CA14A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97E44A-97EB-D455-F25F-02C874761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175DC9-7E43-72B2-BBCE-0F266D7781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80D236B-46D1-F411-59FA-3E7CFE83E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4421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36DCD-619C-EA76-4236-4F874410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3E273CC-4B33-95B6-C470-2D51BF47C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C0F933E-7BD6-C3E7-AD83-D824A2617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9DAE03-7445-44A4-21EA-336286302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4808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FDF49-A3EA-C315-8D4F-B154236B0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37AA2C8-7676-A515-ED8F-65A68B848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DD5DABE-F46D-ECE4-2E0A-FE793479E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4DEE877-25C5-ECEC-D0EF-BA614ABDEC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879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BC58C-9DB6-9105-E69A-8C31141C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9E658F-B34D-12A4-EEE6-EF875835F1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087A7F-6934-6FEA-606F-E142DFE68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40EED45-4140-A44E-4191-4740B5ECC2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767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A2A0A-C286-841D-7B80-B7A4C05B2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3A0502A-F68B-3805-F310-E9DADD97BF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7A9D0E-C30F-3B64-CA70-0689358B47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01C2BB-17E2-156C-72C1-F14E6A9CF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1333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6397-09BD-B155-4926-7198327B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AA2F1F8-5067-7750-561A-E17683654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77500A-F250-8859-566F-5A309C3EE6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85660E-1BBC-3354-9FB4-951C3B539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312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44D1F-DBED-B5F9-E7B1-584AD4747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0B9C166-8ADD-E0C4-59FF-32DA484B9D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EAD3CF-DC63-F333-6268-11037A877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58C4DA-FA35-4ADA-C134-F0F2FA57E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0803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897E9-F245-E748-7A25-B179D9F05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F89703C-1349-444D-8347-6D5E3E9E7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F1C179-7637-5C72-4DEC-979D07E76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622CD-AACC-334B-DF11-44190CB7E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44599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1460F-7F13-E2D7-E03E-40B459745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2B92AE4-E5E6-E3BB-4316-DE7BF54A2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D5DE03-EEB0-9182-551C-DA190AD50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34336C-A665-48B8-9292-19143DFEB0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959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256B5-3D6B-D499-D376-74D11DFE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BF11F23-F988-8034-B827-22A93E9AE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F00481-DF83-DB6A-DD17-A781A3EC3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DD71D0-6CB3-1E42-04E8-EE0A1A7F29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9622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FD58B-827B-4706-9DC3-DC6920516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8DCB60-5430-28C3-BAE7-73D8DF385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C5D0616-B7B4-8270-2DB4-E75B07ED12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4B5E9D-E156-2BEA-1B68-17A3C0043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30172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15832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9378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43D1BA25-45AC-0C48-96BD-5DDCEEC5AF57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378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970B994C-A700-4648-A4D6-B500A702200B}"/>
              </a:ext>
            </a:extLst>
          </p:cNvPr>
          <p:cNvSpPr/>
          <p:nvPr userDrawn="1"/>
        </p:nvSpPr>
        <p:spPr>
          <a:xfrm>
            <a:off x="4467069" y="1754155"/>
            <a:ext cx="7724931" cy="51038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Espaço Reservado para Imagem 9">
            <a:extLst>
              <a:ext uri="{FF2B5EF4-FFF2-40B4-BE49-F238E27FC236}">
                <a16:creationId xmlns:a16="http://schemas.microsoft.com/office/drawing/2014/main" id="{6169D4C1-82D6-4206-B0E8-AF62D6F09BE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754155 h 6858000"/>
              <a:gd name="connsiteX3" fmla="*/ 4467070 w 12192000"/>
              <a:gd name="connsiteY3" fmla="*/ 1754155 h 6858000"/>
              <a:gd name="connsiteX4" fmla="*/ 4467070 w 12192000"/>
              <a:gd name="connsiteY4" fmla="*/ 6858000 h 6858000"/>
              <a:gd name="connsiteX5" fmla="*/ 0 w 12192000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754155"/>
                </a:lnTo>
                <a:lnTo>
                  <a:pt x="4467070" y="1754155"/>
                </a:lnTo>
                <a:lnTo>
                  <a:pt x="446707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67404" y="2335342"/>
            <a:ext cx="6580584" cy="1951037"/>
          </a:xfrm>
        </p:spPr>
        <p:txBody>
          <a:bodyPr rtlCol="0" anchor="t" anchorCtr="0"/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42894" y="4286379"/>
            <a:ext cx="4093029" cy="1642473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442031C9-0B4C-44DA-907A-9CB1434077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5999" y="0"/>
            <a:ext cx="6096001" cy="6858000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1" y="876926"/>
            <a:ext cx="5079113" cy="1356607"/>
          </a:xfrm>
        </p:spPr>
        <p:txBody>
          <a:bodyPr rtlCol="0" anchor="t" anchorCtr="0">
            <a:normAutofit/>
          </a:bodyPr>
          <a:lstStyle>
            <a:lvl1pPr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10" y="2233534"/>
            <a:ext cx="4205990" cy="2833142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DE23592C-4E26-184A-AAED-41EC35AFF551}"/>
              </a:ext>
            </a:extLst>
          </p:cNvPr>
          <p:cNvCxnSpPr/>
          <p:nvPr userDrawn="1"/>
        </p:nvCxnSpPr>
        <p:spPr>
          <a:xfrm>
            <a:off x="0" y="5711252"/>
            <a:ext cx="36875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B68C5F28-837A-4354-8BA4-A994BD1D6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808890" y="6356350"/>
            <a:ext cx="3108434" cy="365125"/>
          </a:xfrm>
        </p:spPr>
        <p:txBody>
          <a:bodyPr rtlCol="0"/>
          <a:lstStyle>
            <a:lvl1pPr algn="r">
              <a:defRPr>
                <a:latin typeface="+mn-lt"/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9" name="Espaço Reservado para o Número do Slide 5">
            <a:extLst>
              <a:ext uri="{FF2B5EF4-FFF2-40B4-BE49-F238E27FC236}">
                <a16:creationId xmlns:a16="http://schemas.microsoft.com/office/drawing/2014/main" id="{A6EDF98A-063D-47C8-8D91-A223F9955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3308" y="6356350"/>
            <a:ext cx="109769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sp>
        <p:nvSpPr>
          <p:cNvPr id="11" name="Espaço Reservado para Data 3">
            <a:extLst>
              <a:ext uri="{FF2B5EF4-FFF2-40B4-BE49-F238E27FC236}">
                <a16:creationId xmlns:a16="http://schemas.microsoft.com/office/drawing/2014/main" id="{042684A6-77E9-406F-A431-4C57DCAE6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954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629" y="611455"/>
            <a:ext cx="10646275" cy="1356607"/>
          </a:xfrm>
        </p:spPr>
        <p:txBody>
          <a:bodyPr rtlCol="0" anchor="t" anchorCtr="0">
            <a:normAutofit/>
          </a:bodyPr>
          <a:lstStyle>
            <a:lvl1pPr algn="l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70390" y="1883664"/>
            <a:ext cx="11386181" cy="4352544"/>
          </a:xfrm>
        </p:spPr>
        <p:txBody>
          <a:bodyPr rtlCol="0">
            <a:normAutofit/>
          </a:bodyPr>
          <a:lstStyle>
            <a:lvl1pPr marL="0" indent="0" algn="l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 algn="l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914400" indent="0" algn="l">
              <a:buNone/>
              <a:defRPr sz="1800">
                <a:solidFill>
                  <a:schemeClr val="tx2"/>
                </a:solidFill>
                <a:latin typeface="+mj-lt"/>
              </a:defRPr>
            </a:lvl3pPr>
            <a:lvl4pPr marL="1371600" indent="0" algn="l"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1828800" indent="0" algn="l">
              <a:buNone/>
              <a:defRPr sz="16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8458DC-876E-488A-944B-22A18113BE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8DA1A0-979E-4983-A719-E249D39F2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E1C9D0CB-E1A8-47F0-B2C6-6F370F7E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94078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BF0C0123-3B3C-46FD-A0A1-ADA5035076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945761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2631132"/>
            <a:ext cx="11118272" cy="1662546"/>
          </a:xfrm>
          <a:solidFill>
            <a:schemeClr val="tx1">
              <a:alpha val="89000"/>
            </a:schemeClr>
          </a:solidFill>
        </p:spPr>
        <p:txBody>
          <a:bodyPr lIns="914400" rtlCol="0" anchor="ctr" anchorCtr="0"/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4593635"/>
            <a:ext cx="9926782" cy="1662546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E747029-9859-DC45-9A77-7E1D4D104189}"/>
              </a:ext>
            </a:extLst>
          </p:cNvPr>
          <p:cNvCxnSpPr>
            <a:cxnSpLocks/>
          </p:cNvCxnSpPr>
          <p:nvPr userDrawn="1"/>
        </p:nvCxnSpPr>
        <p:spPr>
          <a:xfrm>
            <a:off x="7605486" y="6256186"/>
            <a:ext cx="458651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Data 3">
            <a:extLst>
              <a:ext uri="{FF2B5EF4-FFF2-40B4-BE49-F238E27FC236}">
                <a16:creationId xmlns:a16="http://schemas.microsoft.com/office/drawing/2014/main" id="{96DEBBF3-C67B-47A9-B715-36E7E467ECA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E476355C-0230-4853-AF11-0A1B0AD8EB8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8" name="Espaço Reservado para o Número do Slide 5">
            <a:extLst>
              <a:ext uri="{FF2B5EF4-FFF2-40B4-BE49-F238E27FC236}">
                <a16:creationId xmlns:a16="http://schemas.microsoft.com/office/drawing/2014/main" id="{D0A15523-9DC0-4DB6-AAB5-709BE171FB0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a seçã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A182AD2A-0ECB-4BEA-B4FC-8A8041F4FF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912238"/>
            <a:ext cx="12199673" cy="2945761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676650"/>
            <a:ext cx="10515600" cy="1252163"/>
          </a:xfrm>
        </p:spPr>
        <p:txBody>
          <a:bodyPr rtlCol="0" anchor="ctr" anchorCtr="0"/>
          <a:lstStyle>
            <a:lvl1pPr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1928813"/>
            <a:ext cx="10515600" cy="1645660"/>
          </a:xfrm>
        </p:spPr>
        <p:txBody>
          <a:bodyPr rtlCol="0"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96333DBA-ED5F-B346-8E4B-C25112DBA651}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10505786" y="-1017238"/>
            <a:ext cx="0" cy="33877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spaço Reservado para Data 3">
            <a:extLst>
              <a:ext uri="{FF2B5EF4-FFF2-40B4-BE49-F238E27FC236}">
                <a16:creationId xmlns:a16="http://schemas.microsoft.com/office/drawing/2014/main" id="{8D41C68D-A186-4D75-82A5-8C2768B18462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9" name="Espaço Reservado para Rodapé 6">
            <a:extLst>
              <a:ext uri="{FF2B5EF4-FFF2-40B4-BE49-F238E27FC236}">
                <a16:creationId xmlns:a16="http://schemas.microsoft.com/office/drawing/2014/main" id="{88CEBD28-6BC1-4BA2-9AB9-287381DFB66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0" name="Espaço Reservado para o Número do Slide 7">
            <a:extLst>
              <a:ext uri="{FF2B5EF4-FFF2-40B4-BE49-F238E27FC236}">
                <a16:creationId xmlns:a16="http://schemas.microsoft.com/office/drawing/2014/main" id="{F89D9479-2604-412D-9703-94A042E59F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03679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35119" y="3846786"/>
            <a:ext cx="4137288" cy="2253977"/>
          </a:xfrm>
        </p:spPr>
        <p:txBody>
          <a:bodyPr rtlCol="0" anchor="t" anchorCtr="0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pPr rtl="0"/>
            <a:r>
              <a:rPr lang="pt-BR" noProof="0"/>
              <a:t>Clique para editar o Mestre 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E083BCB-EF8C-3B45-B3E0-6094D68C1246}"/>
              </a:ext>
            </a:extLst>
          </p:cNvPr>
          <p:cNvCxnSpPr>
            <a:cxnSpLocks/>
          </p:cNvCxnSpPr>
          <p:nvPr userDrawn="1"/>
        </p:nvCxnSpPr>
        <p:spPr>
          <a:xfrm>
            <a:off x="7615000" y="0"/>
            <a:ext cx="0" cy="33877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ço reservado para o gráfico 15">
            <a:extLst>
              <a:ext uri="{FF2B5EF4-FFF2-40B4-BE49-F238E27FC236}">
                <a16:creationId xmlns:a16="http://schemas.microsoft.com/office/drawing/2014/main" id="{575A85FE-F25A-AA48-9533-535C917EBFBE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374650" y="173736"/>
            <a:ext cx="6761163" cy="574040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gráfico</a:t>
            </a:r>
          </a:p>
        </p:txBody>
      </p:sp>
      <p:sp>
        <p:nvSpPr>
          <p:cNvPr id="5" name="Espaço Reservado para Data 2">
            <a:extLst>
              <a:ext uri="{FF2B5EF4-FFF2-40B4-BE49-F238E27FC236}">
                <a16:creationId xmlns:a16="http://schemas.microsoft.com/office/drawing/2014/main" id="{22378FC3-0625-417F-9504-AB730950476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3">
            <a:extLst>
              <a:ext uri="{FF2B5EF4-FFF2-40B4-BE49-F238E27FC236}">
                <a16:creationId xmlns:a16="http://schemas.microsoft.com/office/drawing/2014/main" id="{BF811660-F20D-49FF-9445-C36E49BD31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4">
            <a:extLst>
              <a:ext uri="{FF2B5EF4-FFF2-40B4-BE49-F238E27FC236}">
                <a16:creationId xmlns:a16="http://schemas.microsoft.com/office/drawing/2014/main" id="{9252CDD4-236D-4E0B-B7E5-1299FC84FC9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s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303" y="3663846"/>
            <a:ext cx="4385565" cy="2235016"/>
          </a:xfrm>
        </p:spPr>
        <p:txBody>
          <a:bodyPr rtlCol="0" anchor="t" anchorCtr="0">
            <a:normAutofit/>
          </a:bodyPr>
          <a:lstStyle>
            <a:lvl1pPr algn="l">
              <a:defRPr sz="5400">
                <a:latin typeface="+mj-lt"/>
              </a:defRPr>
            </a:lvl1pPr>
          </a:lstStyle>
          <a:p>
            <a:pPr rtl="0"/>
            <a:r>
              <a:rPr lang="pt-BR" noProof="0"/>
              <a:t>Clique para editar o Mestre 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E083BCB-EF8C-3B45-B3E0-6094D68C1246}"/>
              </a:ext>
            </a:extLst>
          </p:cNvPr>
          <p:cNvCxnSpPr>
            <a:cxnSpLocks/>
          </p:cNvCxnSpPr>
          <p:nvPr userDrawn="1"/>
        </p:nvCxnSpPr>
        <p:spPr>
          <a:xfrm>
            <a:off x="4523214" y="0"/>
            <a:ext cx="0" cy="33877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spaço Reservado para Texto 12">
            <a:extLst>
              <a:ext uri="{FF2B5EF4-FFF2-40B4-BE49-F238E27FC236}">
                <a16:creationId xmlns:a16="http://schemas.microsoft.com/office/drawing/2014/main" id="{B039E4E5-7FFE-CC4B-8842-71AE4FA860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89850" y="3667020"/>
            <a:ext cx="5564845" cy="2235016"/>
          </a:xfrm>
        </p:spPr>
        <p:txBody>
          <a:bodyPr rtlCol="0">
            <a:noAutofit/>
          </a:bodyPr>
          <a:lstStyle>
            <a:lvl1pPr marL="0" indent="0"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sz="1600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sz="16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130245D5-FEED-9942-BB36-B4B0944B9E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89613" y="549275"/>
            <a:ext cx="2555875" cy="2838450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Imagem 3">
            <a:extLst>
              <a:ext uri="{FF2B5EF4-FFF2-40B4-BE49-F238E27FC236}">
                <a16:creationId xmlns:a16="http://schemas.microsoft.com/office/drawing/2014/main" id="{5EE6AB47-FCD9-0E4A-8E1D-B4C8D134BB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98820" y="549275"/>
            <a:ext cx="2555875" cy="2838450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D878389-B981-B246-9A16-3137079B452D}"/>
              </a:ext>
            </a:extLst>
          </p:cNvPr>
          <p:cNvSpPr/>
          <p:nvPr userDrawn="1"/>
        </p:nvSpPr>
        <p:spPr>
          <a:xfrm>
            <a:off x="0" y="6174931"/>
            <a:ext cx="12192000" cy="683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Espaço Reservado para Data 2">
            <a:extLst>
              <a:ext uri="{FF2B5EF4-FFF2-40B4-BE49-F238E27FC236}">
                <a16:creationId xmlns:a16="http://schemas.microsoft.com/office/drawing/2014/main" id="{2B04B165-7AD0-4017-991A-53D3876388E7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9" name="Espaço Reservado para Rodapé 4">
            <a:extLst>
              <a:ext uri="{FF2B5EF4-FFF2-40B4-BE49-F238E27FC236}">
                <a16:creationId xmlns:a16="http://schemas.microsoft.com/office/drawing/2014/main" id="{6DF0ACE5-9E0A-47E1-A9C1-193F90792C7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4" name="Espaço Reservado para o Número do Slide 5">
            <a:extLst>
              <a:ext uri="{FF2B5EF4-FFF2-40B4-BE49-F238E27FC236}">
                <a16:creationId xmlns:a16="http://schemas.microsoft.com/office/drawing/2014/main" id="{B5A32872-1E9F-499E-A0E5-E25A255707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32282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2449822"/>
            <a:ext cx="4812867" cy="636261"/>
          </a:xfrm>
        </p:spPr>
        <p:txBody>
          <a:bodyPr rtlCol="0" anchor="b">
            <a:normAutofit/>
          </a:bodyPr>
          <a:lstStyle>
            <a:lvl1pPr marL="0" indent="0">
              <a:buNone/>
              <a:defRPr sz="2400" b="0" cap="all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3152954"/>
            <a:ext cx="4812867" cy="2827182"/>
          </a:xfrm>
        </p:spPr>
        <p:txBody>
          <a:bodyPr rtlCol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+mj-lt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j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j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216563" y="2449822"/>
            <a:ext cx="5294154" cy="636261"/>
          </a:xfrm>
        </p:spPr>
        <p:txBody>
          <a:bodyPr rtlCol="0" anchor="b">
            <a:normAutofit/>
          </a:bodyPr>
          <a:lstStyle>
            <a:lvl1pPr marL="0" indent="0">
              <a:buNone/>
              <a:defRPr sz="2400" b="0" cap="all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216563" y="3152954"/>
            <a:ext cx="5294154" cy="2827182"/>
          </a:xfrm>
        </p:spPr>
        <p:txBody>
          <a:bodyPr rtlCol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+mj-lt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j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j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F2090A0-772A-C549-8840-0CF48830E68A}"/>
              </a:ext>
            </a:extLst>
          </p:cNvPr>
          <p:cNvCxnSpPr>
            <a:cxnSpLocks/>
          </p:cNvCxnSpPr>
          <p:nvPr userDrawn="1"/>
        </p:nvCxnSpPr>
        <p:spPr>
          <a:xfrm>
            <a:off x="6763657" y="6256186"/>
            <a:ext cx="542834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Imagem 17">
            <a:extLst>
              <a:ext uri="{FF2B5EF4-FFF2-40B4-BE49-F238E27FC236}">
                <a16:creationId xmlns:a16="http://schemas.microsoft.com/office/drawing/2014/main" id="{2F5025B1-54F6-4735-8BE4-31E33BB3C1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166211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08742881-DAF4-4DFE-8C09-2BCC306EF6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493776"/>
            <a:ext cx="9997440" cy="1662113"/>
          </a:xfrm>
          <a:solidFill>
            <a:schemeClr val="tx1">
              <a:alpha val="89000"/>
            </a:schemeClr>
          </a:solidFill>
        </p:spPr>
        <p:txBody>
          <a:bodyPr tIns="365760" rtlCol="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DFC82FBA-0F09-4E2A-B286-CC1BAF61F3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10">
            <a:extLst>
              <a:ext uri="{FF2B5EF4-FFF2-40B4-BE49-F238E27FC236}">
                <a16:creationId xmlns:a16="http://schemas.microsoft.com/office/drawing/2014/main" id="{35C8B9BF-3225-42AC-AC54-8108B8778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3" name="Espaço Reservado para o Número do Slide 11">
            <a:extLst>
              <a:ext uri="{FF2B5EF4-FFF2-40B4-BE49-F238E27FC236}">
                <a16:creationId xmlns:a16="http://schemas.microsoft.com/office/drawing/2014/main" id="{B2CA33E4-9BFE-4DCE-972D-17F3F706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2484326"/>
            <a:ext cx="3205396" cy="619011"/>
          </a:xfrm>
        </p:spPr>
        <p:txBody>
          <a:bodyPr rtlCol="0" anchor="b">
            <a:normAutofit/>
          </a:bodyPr>
          <a:lstStyle>
            <a:lvl1pPr marL="0" indent="0">
              <a:buNone/>
              <a:defRPr sz="2400" b="0" cap="all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9" y="3187458"/>
            <a:ext cx="3205396" cy="2827182"/>
          </a:xfrm>
        </p:spPr>
        <p:txBody>
          <a:bodyPr rtlCol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+mj-lt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j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j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50008" y="2484326"/>
            <a:ext cx="3221182" cy="619011"/>
          </a:xfrm>
        </p:spPr>
        <p:txBody>
          <a:bodyPr rtlCol="0" anchor="b">
            <a:normAutofit/>
          </a:bodyPr>
          <a:lstStyle>
            <a:lvl1pPr marL="0" indent="0">
              <a:buNone/>
              <a:defRPr sz="2400" b="0" cap="all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50008" y="3187458"/>
            <a:ext cx="3221182" cy="2827182"/>
          </a:xfrm>
        </p:spPr>
        <p:txBody>
          <a:bodyPr rtlCol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+mj-lt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j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j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8" name="Espaço Reservado para Texto 4">
            <a:extLst>
              <a:ext uri="{FF2B5EF4-FFF2-40B4-BE49-F238E27FC236}">
                <a16:creationId xmlns:a16="http://schemas.microsoft.com/office/drawing/2014/main" id="{860ECCB6-C8A8-BB43-AC04-B3621CFEC5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76013" y="2484326"/>
            <a:ext cx="3221182" cy="619011"/>
          </a:xfrm>
        </p:spPr>
        <p:txBody>
          <a:bodyPr rtlCol="0" anchor="b">
            <a:normAutofit/>
          </a:bodyPr>
          <a:lstStyle>
            <a:lvl1pPr marL="0" indent="0">
              <a:buNone/>
              <a:defRPr sz="2400" b="0" cap="all" baseline="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Espaço Reservado para Conteúdo 5">
            <a:extLst>
              <a:ext uri="{FF2B5EF4-FFF2-40B4-BE49-F238E27FC236}">
                <a16:creationId xmlns:a16="http://schemas.microsoft.com/office/drawing/2014/main" id="{A42E179B-3AD1-7F42-AE86-86F1F9A377E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276013" y="3187458"/>
            <a:ext cx="3221182" cy="2827182"/>
          </a:xfrm>
        </p:spPr>
        <p:txBody>
          <a:bodyPr rtlCol="0">
            <a:normAutofit/>
          </a:bodyPr>
          <a:lstStyle>
            <a:lvl1pPr marL="342900" indent="-342900">
              <a:lnSpc>
                <a:spcPct val="100000"/>
              </a:lnSpc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  <a:latin typeface="+mj-lt"/>
              </a:defRPr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  <a:latin typeface="+mj-lt"/>
              </a:defRPr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tx2"/>
                </a:solidFill>
                <a:latin typeface="+mj-lt"/>
              </a:defRPr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>
                <a:solidFill>
                  <a:schemeClr val="tx2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081FA6F8-E47A-AF48-81E8-B32BDDD67498}"/>
              </a:ext>
            </a:extLst>
          </p:cNvPr>
          <p:cNvCxnSpPr>
            <a:cxnSpLocks/>
          </p:cNvCxnSpPr>
          <p:nvPr userDrawn="1"/>
        </p:nvCxnSpPr>
        <p:spPr>
          <a:xfrm>
            <a:off x="6763657" y="6256186"/>
            <a:ext cx="5428343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spaço Reservado para Imagem 17">
            <a:extLst>
              <a:ext uri="{FF2B5EF4-FFF2-40B4-BE49-F238E27FC236}">
                <a16:creationId xmlns:a16="http://schemas.microsoft.com/office/drawing/2014/main" id="{D90CF65F-2A4B-483A-A668-8CA45F6BA3C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166211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FB9C7FF7-CB56-49D5-BC60-5B51F73088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493776"/>
            <a:ext cx="9997440" cy="1662113"/>
          </a:xfrm>
          <a:solidFill>
            <a:schemeClr val="tx1">
              <a:alpha val="89000"/>
            </a:schemeClr>
          </a:solidFill>
        </p:spPr>
        <p:txBody>
          <a:bodyPr tIns="365760" rtlCol="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2" name="Espaço Reservado para Data 6">
            <a:extLst>
              <a:ext uri="{FF2B5EF4-FFF2-40B4-BE49-F238E27FC236}">
                <a16:creationId xmlns:a16="http://schemas.microsoft.com/office/drawing/2014/main" id="{3DEAC756-8E1D-4F9B-A6AC-2CB1A39280CF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13" name="Espaço Reservado para Rodapé 10">
            <a:extLst>
              <a:ext uri="{FF2B5EF4-FFF2-40B4-BE49-F238E27FC236}">
                <a16:creationId xmlns:a16="http://schemas.microsoft.com/office/drawing/2014/main" id="{4DC7375B-BA19-477E-BC1F-E66C9A32D346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14" name="Espaço Reservado para o Número do Slide 11">
            <a:extLst>
              <a:ext uri="{FF2B5EF4-FFF2-40B4-BE49-F238E27FC236}">
                <a16:creationId xmlns:a16="http://schemas.microsoft.com/office/drawing/2014/main" id="{2EF863B1-B71D-40A5-B100-BEDDF1324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6078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equipe peque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24">
            <a:extLst>
              <a:ext uri="{FF2B5EF4-FFF2-40B4-BE49-F238E27FC236}">
                <a16:creationId xmlns:a16="http://schemas.microsoft.com/office/drawing/2014/main" id="{98CBB35A-0A08-5041-BD40-BF45BC1AEA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85261" y="2706624"/>
            <a:ext cx="1944976" cy="1944974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6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6" name="Espaço Reservado para Texto 26">
            <a:extLst>
              <a:ext uri="{FF2B5EF4-FFF2-40B4-BE49-F238E27FC236}">
                <a16:creationId xmlns:a16="http://schemas.microsoft.com/office/drawing/2014/main" id="{13A7526F-5EB1-B149-A17B-140D879C22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1783" y="4919472"/>
            <a:ext cx="2641744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7" name="Espaço Reservado para Texto 26">
            <a:extLst>
              <a:ext uri="{FF2B5EF4-FFF2-40B4-BE49-F238E27FC236}">
                <a16:creationId xmlns:a16="http://schemas.microsoft.com/office/drawing/2014/main" id="{F324894D-54DA-A14A-A64C-19BB8656F0D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1783" y="5276088"/>
            <a:ext cx="2641744" cy="613928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8" name="Espaço Reservado para Imagem 24">
            <a:extLst>
              <a:ext uri="{FF2B5EF4-FFF2-40B4-BE49-F238E27FC236}">
                <a16:creationId xmlns:a16="http://schemas.microsoft.com/office/drawing/2014/main" id="{668630C3-2B55-3E42-B37C-761FC5B8D99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49243" y="2706624"/>
            <a:ext cx="1944976" cy="1944974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6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Texto 26">
            <a:extLst>
              <a:ext uri="{FF2B5EF4-FFF2-40B4-BE49-F238E27FC236}">
                <a16:creationId xmlns:a16="http://schemas.microsoft.com/office/drawing/2014/main" id="{13A77570-6922-804B-9561-A4FD1EECA4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05765" y="4919472"/>
            <a:ext cx="2641744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0" name="Espaço Reservado para Texto 26">
            <a:extLst>
              <a:ext uri="{FF2B5EF4-FFF2-40B4-BE49-F238E27FC236}">
                <a16:creationId xmlns:a16="http://schemas.microsoft.com/office/drawing/2014/main" id="{E1C349B5-EA89-A045-923D-E8C06B61BF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05765" y="5276088"/>
            <a:ext cx="2641744" cy="613928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1" name="Espaço Reservado para Imagem 24">
            <a:extLst>
              <a:ext uri="{FF2B5EF4-FFF2-40B4-BE49-F238E27FC236}">
                <a16:creationId xmlns:a16="http://schemas.microsoft.com/office/drawing/2014/main" id="{4355BC29-468B-9443-AAF0-D4F9A17CBB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3225" y="2706624"/>
            <a:ext cx="1944976" cy="1944974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6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2" name="Espaço Reservado para Texto 26">
            <a:extLst>
              <a:ext uri="{FF2B5EF4-FFF2-40B4-BE49-F238E27FC236}">
                <a16:creationId xmlns:a16="http://schemas.microsoft.com/office/drawing/2014/main" id="{0ACA1FDC-8C3E-1548-BBD5-7F8C1F2BE6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69747" y="4919472"/>
            <a:ext cx="2641744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3" name="Espaço Reservado para Texto 26">
            <a:extLst>
              <a:ext uri="{FF2B5EF4-FFF2-40B4-BE49-F238E27FC236}">
                <a16:creationId xmlns:a16="http://schemas.microsoft.com/office/drawing/2014/main" id="{01851322-3359-0A4C-A37F-267BC65A63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69747" y="5276088"/>
            <a:ext cx="2641744" cy="613928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4" name="Espaço Reservado para Imagem 24">
            <a:extLst>
              <a:ext uri="{FF2B5EF4-FFF2-40B4-BE49-F238E27FC236}">
                <a16:creationId xmlns:a16="http://schemas.microsoft.com/office/drawing/2014/main" id="{59988A13-ECF1-ED4E-B389-5F37421ED46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277207" y="2706624"/>
            <a:ext cx="1944976" cy="1944974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6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5" name="Espaço Reservado para Texto 26">
            <a:extLst>
              <a:ext uri="{FF2B5EF4-FFF2-40B4-BE49-F238E27FC236}">
                <a16:creationId xmlns:a16="http://schemas.microsoft.com/office/drawing/2014/main" id="{1638E04D-DAC7-604F-A069-95B2DFCC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33729" y="4919472"/>
            <a:ext cx="2641744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6" name="Espaço Reservado para Texto 26">
            <a:extLst>
              <a:ext uri="{FF2B5EF4-FFF2-40B4-BE49-F238E27FC236}">
                <a16:creationId xmlns:a16="http://schemas.microsoft.com/office/drawing/2014/main" id="{90B59C4A-4CEA-9A4D-B122-9413587B214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33729" y="5276088"/>
            <a:ext cx="2641744" cy="613928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7" name="Espaço Reservado para Imagem 17">
            <a:extLst>
              <a:ext uri="{FF2B5EF4-FFF2-40B4-BE49-F238E27FC236}">
                <a16:creationId xmlns:a16="http://schemas.microsoft.com/office/drawing/2014/main" id="{7DDB2A7E-5AF6-4711-8A74-79B2DF28E6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166211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4DE4F48-3DE9-4C77-86D8-E2729DB71B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493776"/>
            <a:ext cx="9997440" cy="1662113"/>
          </a:xfrm>
          <a:solidFill>
            <a:schemeClr val="tx1">
              <a:alpha val="89000"/>
            </a:schemeClr>
          </a:solidFill>
        </p:spPr>
        <p:txBody>
          <a:bodyPr tIns="365760" rtlCol="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9" name="Espaço Reservado para Data 6">
            <a:extLst>
              <a:ext uri="{FF2B5EF4-FFF2-40B4-BE49-F238E27FC236}">
                <a16:creationId xmlns:a16="http://schemas.microsoft.com/office/drawing/2014/main" id="{A220F2AA-9E42-4AB5-8185-09F43E8B4176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20" name="Espaço Reservado para Rodapé 10">
            <a:extLst>
              <a:ext uri="{FF2B5EF4-FFF2-40B4-BE49-F238E27FC236}">
                <a16:creationId xmlns:a16="http://schemas.microsoft.com/office/drawing/2014/main" id="{CE3D587E-37A7-4617-98F5-BBAEA534F79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21" name="Espaço Reservado para o Número do Slide 11">
            <a:extLst>
              <a:ext uri="{FF2B5EF4-FFF2-40B4-BE49-F238E27FC236}">
                <a16:creationId xmlns:a16="http://schemas.microsoft.com/office/drawing/2014/main" id="{9254D0DC-D4BC-4F16-9841-5BD3BB3DFA3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58194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equipe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sz="6000"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25" name="Espaço Reservado para Imagem 24">
            <a:extLst>
              <a:ext uri="{FF2B5EF4-FFF2-40B4-BE49-F238E27FC236}">
                <a16:creationId xmlns:a16="http://schemas.microsoft.com/office/drawing/2014/main" id="{1BA2D214-E442-1E4E-97CD-BEF2BAC1A05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631950" y="190023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7" name="Espaço Reservado para Texto 26">
            <a:extLst>
              <a:ext uri="{FF2B5EF4-FFF2-40B4-BE49-F238E27FC236}">
                <a16:creationId xmlns:a16="http://schemas.microsoft.com/office/drawing/2014/main" id="{8CDBFFA1-19CC-A745-A4B0-C4C7E165E8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6325" y="323907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8" name="Espaço Reservado para Texto 26">
            <a:extLst>
              <a:ext uri="{FF2B5EF4-FFF2-40B4-BE49-F238E27FC236}">
                <a16:creationId xmlns:a16="http://schemas.microsoft.com/office/drawing/2014/main" id="{6865090D-070B-514D-8644-27AA44684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6325" y="356616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9" name="Espaço Reservado para Imagem 24">
            <a:extLst>
              <a:ext uri="{FF2B5EF4-FFF2-40B4-BE49-F238E27FC236}">
                <a16:creationId xmlns:a16="http://schemas.microsoft.com/office/drawing/2014/main" id="{BDCAC79F-D619-4A4D-AA16-33462F91CF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13785" y="190023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0" name="Espaço Reservado para Texto 26">
            <a:extLst>
              <a:ext uri="{FF2B5EF4-FFF2-40B4-BE49-F238E27FC236}">
                <a16:creationId xmlns:a16="http://schemas.microsoft.com/office/drawing/2014/main" id="{60BA181C-FF2A-FC45-8F96-700584BD23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58160" y="323907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1" name="Espaço Reservado para Texto 26">
            <a:extLst>
              <a:ext uri="{FF2B5EF4-FFF2-40B4-BE49-F238E27FC236}">
                <a16:creationId xmlns:a16="http://schemas.microsoft.com/office/drawing/2014/main" id="{AC5838B0-DD1C-E84B-9489-3993D788F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58160" y="356616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2" name="Espaço Reservado para Imagem 24">
            <a:extLst>
              <a:ext uri="{FF2B5EF4-FFF2-40B4-BE49-F238E27FC236}">
                <a16:creationId xmlns:a16="http://schemas.microsoft.com/office/drawing/2014/main" id="{7175A9C4-CAA9-A64F-A5D8-1C0A7C1B53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5620" y="190023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3" name="Espaço Reservado para Texto 26">
            <a:extLst>
              <a:ext uri="{FF2B5EF4-FFF2-40B4-BE49-F238E27FC236}">
                <a16:creationId xmlns:a16="http://schemas.microsoft.com/office/drawing/2014/main" id="{9C830668-9722-B940-B234-BB9FE0EFE6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9995" y="323907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4" name="Espaço Reservado para Texto 26">
            <a:extLst>
              <a:ext uri="{FF2B5EF4-FFF2-40B4-BE49-F238E27FC236}">
                <a16:creationId xmlns:a16="http://schemas.microsoft.com/office/drawing/2014/main" id="{5BCB1F98-2365-A845-807C-BE51A3C6DA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9995" y="356616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5" name="Espaço Reservado para Imagem 24">
            <a:extLst>
              <a:ext uri="{FF2B5EF4-FFF2-40B4-BE49-F238E27FC236}">
                <a16:creationId xmlns:a16="http://schemas.microsoft.com/office/drawing/2014/main" id="{B18B6DCA-AAB8-5F4F-9DD5-B86EE8CBD3D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59526" y="190023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6" name="Espaço Reservado para Texto 26">
            <a:extLst>
              <a:ext uri="{FF2B5EF4-FFF2-40B4-BE49-F238E27FC236}">
                <a16:creationId xmlns:a16="http://schemas.microsoft.com/office/drawing/2014/main" id="{CE3D1F83-7947-624B-AC3C-7D21821AE3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03901" y="323907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7" name="Espaço Reservado para Texto 26">
            <a:extLst>
              <a:ext uri="{FF2B5EF4-FFF2-40B4-BE49-F238E27FC236}">
                <a16:creationId xmlns:a16="http://schemas.microsoft.com/office/drawing/2014/main" id="{3608F6B5-173E-7945-A6B4-E26276D080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3901" y="356616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8" name="Espaço Reservado para Imagem 24">
            <a:extLst>
              <a:ext uri="{FF2B5EF4-FFF2-40B4-BE49-F238E27FC236}">
                <a16:creationId xmlns:a16="http://schemas.microsoft.com/office/drawing/2014/main" id="{1ACD0622-4EE2-F64A-A285-02AFE95C5DD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31950" y="432070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39" name="Espaço Reservado para Texto 26">
            <a:extLst>
              <a:ext uri="{FF2B5EF4-FFF2-40B4-BE49-F238E27FC236}">
                <a16:creationId xmlns:a16="http://schemas.microsoft.com/office/drawing/2014/main" id="{D99EB1E8-DE2D-6E40-91BE-B3B1C6ABB7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76325" y="565954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0" name="Espaço Reservado para Texto 26">
            <a:extLst>
              <a:ext uri="{FF2B5EF4-FFF2-40B4-BE49-F238E27FC236}">
                <a16:creationId xmlns:a16="http://schemas.microsoft.com/office/drawing/2014/main" id="{CE209033-590B-EA41-9FA9-8D3E20BB5B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6325" y="598932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1" name="Espaço Reservado para Imagem 24">
            <a:extLst>
              <a:ext uri="{FF2B5EF4-FFF2-40B4-BE49-F238E27FC236}">
                <a16:creationId xmlns:a16="http://schemas.microsoft.com/office/drawing/2014/main" id="{F0EF7FD9-70EA-7D43-AC3A-5648C324AB89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213785" y="432070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2" name="Espaço Reservado para Texto 26">
            <a:extLst>
              <a:ext uri="{FF2B5EF4-FFF2-40B4-BE49-F238E27FC236}">
                <a16:creationId xmlns:a16="http://schemas.microsoft.com/office/drawing/2014/main" id="{20F05298-65A6-7149-AC3E-A91938A0C89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58160" y="565954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3" name="Espaço Reservado para Texto 26">
            <a:extLst>
              <a:ext uri="{FF2B5EF4-FFF2-40B4-BE49-F238E27FC236}">
                <a16:creationId xmlns:a16="http://schemas.microsoft.com/office/drawing/2014/main" id="{E829FF2B-369F-084A-92BE-A42EAD9582E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58160" y="598932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4" name="Espaço Reservado para Imagem 24">
            <a:extLst>
              <a:ext uri="{FF2B5EF4-FFF2-40B4-BE49-F238E27FC236}">
                <a16:creationId xmlns:a16="http://schemas.microsoft.com/office/drawing/2014/main" id="{4E50BB28-D79E-534D-8075-5285673B6C2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95620" y="432070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5" name="Espaço Reservado para Texto 26">
            <a:extLst>
              <a:ext uri="{FF2B5EF4-FFF2-40B4-BE49-F238E27FC236}">
                <a16:creationId xmlns:a16="http://schemas.microsoft.com/office/drawing/2014/main" id="{F5EB1EB1-0DFF-1C42-9692-85E5A411C81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9995" y="565954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6" name="Espaço Reservado para Texto 26">
            <a:extLst>
              <a:ext uri="{FF2B5EF4-FFF2-40B4-BE49-F238E27FC236}">
                <a16:creationId xmlns:a16="http://schemas.microsoft.com/office/drawing/2014/main" id="{5FEA11E4-7068-E649-9E09-67A1EA10B0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39995" y="598932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7" name="Espaço Reservado para Imagem 24">
            <a:extLst>
              <a:ext uri="{FF2B5EF4-FFF2-40B4-BE49-F238E27FC236}">
                <a16:creationId xmlns:a16="http://schemas.microsoft.com/office/drawing/2014/main" id="{44F9519B-1C20-B848-A15F-EE4D09E5B93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9359526" y="4320708"/>
            <a:ext cx="1273175" cy="1273175"/>
          </a:xfrm>
          <a:prstGeom prst="ellipse">
            <a:avLst/>
          </a:prstGeo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48" name="Espaço Reservado para Texto 26">
            <a:extLst>
              <a:ext uri="{FF2B5EF4-FFF2-40B4-BE49-F238E27FC236}">
                <a16:creationId xmlns:a16="http://schemas.microsoft.com/office/drawing/2014/main" id="{22673807-D8F9-5940-AA4D-A70F000074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03901" y="5659549"/>
            <a:ext cx="2312988" cy="412376"/>
          </a:xfrm>
        </p:spPr>
        <p:txBody>
          <a:bodyPr rtlCol="0" anchor="ctr" anchorCtr="0">
            <a:noAutofit/>
          </a:bodyPr>
          <a:lstStyle>
            <a:lvl1pPr marL="0" indent="0" algn="ctr">
              <a:buNone/>
              <a:defRPr sz="1400" cap="all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9" name="Espaço Reservado para Texto 26">
            <a:extLst>
              <a:ext uri="{FF2B5EF4-FFF2-40B4-BE49-F238E27FC236}">
                <a16:creationId xmlns:a16="http://schemas.microsoft.com/office/drawing/2014/main" id="{7E03C2A1-41CE-E946-B243-A1235A7E06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03901" y="5989320"/>
            <a:ext cx="2312988" cy="447675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1800">
                <a:solidFill>
                  <a:schemeClr val="tx1"/>
                </a:solidFill>
                <a:latin typeface="Bodoni MT" panose="02070603080606020203" pitchFamily="18" charset="77"/>
              </a:defRPr>
            </a:lvl2pPr>
            <a:lvl3pPr marL="914400" indent="0" algn="ctr">
              <a:buNone/>
              <a:defRPr sz="1600">
                <a:solidFill>
                  <a:schemeClr val="tx1"/>
                </a:solidFill>
                <a:latin typeface="Bodoni MT" panose="02070603080606020203" pitchFamily="18" charset="77"/>
              </a:defRPr>
            </a:lvl3pPr>
            <a:lvl4pPr marL="13716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4pPr>
            <a:lvl5pPr marL="1828800" indent="0" algn="ctr">
              <a:buNone/>
              <a:defRPr sz="1400">
                <a:solidFill>
                  <a:schemeClr val="tx1"/>
                </a:solidFill>
                <a:latin typeface="Bodoni MT" panose="02070603080606020203" pitchFamily="18" charset="77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0" name="Espaço Reservado para Data 6">
            <a:extLst>
              <a:ext uri="{FF2B5EF4-FFF2-40B4-BE49-F238E27FC236}">
                <a16:creationId xmlns:a16="http://schemas.microsoft.com/office/drawing/2014/main" id="{698236FE-C9B0-4E5C-A23B-C02CA6C84173}"/>
              </a:ext>
            </a:extLst>
          </p:cNvPr>
          <p:cNvSpPr>
            <a:spLocks noGrp="1"/>
          </p:cNvSpPr>
          <p:nvPr>
            <p:ph type="dt" sz="half" idx="34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51" name="Espaço Reservado para Rodapé 10">
            <a:extLst>
              <a:ext uri="{FF2B5EF4-FFF2-40B4-BE49-F238E27FC236}">
                <a16:creationId xmlns:a16="http://schemas.microsoft.com/office/drawing/2014/main" id="{A93C8C74-29A3-4BCC-8EB9-53CE59B4C8F9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52" name="Espaço Reservado para o Número do Slide 11">
            <a:extLst>
              <a:ext uri="{FF2B5EF4-FFF2-40B4-BE49-F238E27FC236}">
                <a16:creationId xmlns:a16="http://schemas.microsoft.com/office/drawing/2014/main" id="{0DF7F3BB-66CF-46E2-823F-D94C887BC3F5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74370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7480465" cy="1325563"/>
          </a:xfrm>
        </p:spPr>
        <p:txBody>
          <a:bodyPr rtlCol="0">
            <a:normAutofit/>
          </a:bodyPr>
          <a:lstStyle>
            <a:lvl1pPr algn="l">
              <a:defRPr sz="60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F819E775-79C1-C048-A1C9-A453CB9DF3F9}"/>
              </a:ext>
            </a:extLst>
          </p:cNvPr>
          <p:cNvCxnSpPr/>
          <p:nvPr userDrawn="1"/>
        </p:nvCxnSpPr>
        <p:spPr>
          <a:xfrm>
            <a:off x="8504420" y="692983"/>
            <a:ext cx="368758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SmartArt 4">
            <a:extLst>
              <a:ext uri="{FF2B5EF4-FFF2-40B4-BE49-F238E27FC236}">
                <a16:creationId xmlns:a16="http://schemas.microsoft.com/office/drawing/2014/main" id="{2DAB336B-F2EE-7540-B6B9-179BD611A5AC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381000" y="1839913"/>
            <a:ext cx="11363325" cy="4572000"/>
          </a:xfrm>
        </p:spPr>
        <p:txBody>
          <a:bodyPr rtlCol="0"/>
          <a:lstStyle>
            <a:lvl1pPr>
              <a:defRPr>
                <a:latin typeface="+mn-lt"/>
              </a:defRPr>
            </a:lvl1pPr>
          </a:lstStyle>
          <a:p>
            <a:pPr rtl="0"/>
            <a:r>
              <a:rPr lang="pt-BR" noProof="0"/>
              <a:t>Clique no ícone para adicionar elemento gráfico SmartArt</a:t>
            </a:r>
          </a:p>
        </p:txBody>
      </p:sp>
      <p:sp>
        <p:nvSpPr>
          <p:cNvPr id="6" name="Espaço Reservado para Data 6">
            <a:extLst>
              <a:ext uri="{FF2B5EF4-FFF2-40B4-BE49-F238E27FC236}">
                <a16:creationId xmlns:a16="http://schemas.microsoft.com/office/drawing/2014/main" id="{449E2D85-4B9C-467E-B70E-FFFA196D74D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7" name="Espaço Reservado para Rodapé 10">
            <a:extLst>
              <a:ext uri="{FF2B5EF4-FFF2-40B4-BE49-F238E27FC236}">
                <a16:creationId xmlns:a16="http://schemas.microsoft.com/office/drawing/2014/main" id="{CDB1B6C7-69CF-4FD7-B86B-D3BD6D56A4F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8" name="Espaço Reservado para o Número do Slide 11">
            <a:extLst>
              <a:ext uri="{FF2B5EF4-FFF2-40B4-BE49-F238E27FC236}">
                <a16:creationId xmlns:a16="http://schemas.microsoft.com/office/drawing/2014/main" id="{ABDCE1B3-CAC8-44F2-9A63-C903CBFBAFE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467094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d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ço Reservado para Imagem 17">
            <a:extLst>
              <a:ext uri="{FF2B5EF4-FFF2-40B4-BE49-F238E27FC236}">
                <a16:creationId xmlns:a16="http://schemas.microsoft.com/office/drawing/2014/main" id="{BF7DDA28-4051-4C9A-8640-99B7D9008ED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1662113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496957"/>
            <a:ext cx="9997440" cy="1662113"/>
          </a:xfrm>
          <a:solidFill>
            <a:schemeClr val="tx1">
              <a:alpha val="89000"/>
            </a:schemeClr>
          </a:solidFill>
        </p:spPr>
        <p:txBody>
          <a:bodyPr tIns="365760" rtlCol="0">
            <a:normAutofit/>
          </a:bodyPr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20" name="Espaço reservado para tabela 19">
            <a:extLst>
              <a:ext uri="{FF2B5EF4-FFF2-40B4-BE49-F238E27FC236}">
                <a16:creationId xmlns:a16="http://schemas.microsoft.com/office/drawing/2014/main" id="{822FF587-E1EB-4FC1-BE5F-847FC830EBC7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1097279" y="2761488"/>
            <a:ext cx="9997440" cy="2825496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tabela</a:t>
            </a:r>
          </a:p>
        </p:txBody>
      </p:sp>
      <p:sp>
        <p:nvSpPr>
          <p:cNvPr id="5" name="Espaço Reservado para Data 6">
            <a:extLst>
              <a:ext uri="{FF2B5EF4-FFF2-40B4-BE49-F238E27FC236}">
                <a16:creationId xmlns:a16="http://schemas.microsoft.com/office/drawing/2014/main" id="{404CA344-7BF6-40E6-846B-4DFC68BB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/>
          <a:p>
            <a:pPr rtl="0"/>
            <a:r>
              <a:rPr lang="pt-BR" noProof="0"/>
              <a:t>20XX</a:t>
            </a:r>
          </a:p>
        </p:txBody>
      </p:sp>
      <p:sp>
        <p:nvSpPr>
          <p:cNvPr id="6" name="Espaço Reservado para Rodapé 10">
            <a:extLst>
              <a:ext uri="{FF2B5EF4-FFF2-40B4-BE49-F238E27FC236}">
                <a16:creationId xmlns:a16="http://schemas.microsoft.com/office/drawing/2014/main" id="{4DF15184-BCA8-45CA-8E5F-B680ADBFE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7" name="Espaço Reservado para o Número do Slide 11">
            <a:extLst>
              <a:ext uri="{FF2B5EF4-FFF2-40B4-BE49-F238E27FC236}">
                <a16:creationId xmlns:a16="http://schemas.microsoft.com/office/drawing/2014/main" id="{829741B7-179B-4CE8-A5A5-D3EF5527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579066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59B023D1-B432-4327-9B3B-545A055D0CD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38905"/>
            <a:ext cx="12261163" cy="6896905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44B8F7E-01E4-AA4B-B60F-A2BF94E3A1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30439" y="1886755"/>
            <a:ext cx="9131121" cy="3084489"/>
          </a:xfrm>
          <a:solidFill>
            <a:schemeClr val="accent1">
              <a:alpha val="89000"/>
            </a:schemeClr>
          </a:solidFill>
        </p:spPr>
        <p:txBody>
          <a:bodyPr lIns="1005840" tIns="640080" rtlCol="0" anchor="t" anchorCtr="0">
            <a:noAutofit/>
          </a:bodyPr>
          <a:lstStyle>
            <a:lvl1pPr marL="0" indent="0" algn="l"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 marL="457200" indent="0" algn="l">
              <a:buNone/>
              <a:defRPr sz="2800">
                <a:solidFill>
                  <a:schemeClr val="bg1"/>
                </a:solidFill>
                <a:latin typeface="+mj-lt"/>
              </a:defRPr>
            </a:lvl2pPr>
            <a:lvl3pPr marL="914400" indent="0" algn="l">
              <a:buNone/>
              <a:defRPr sz="2400">
                <a:solidFill>
                  <a:schemeClr val="bg1"/>
                </a:solidFill>
                <a:latin typeface="+mj-lt"/>
              </a:defRPr>
            </a:lvl3pPr>
            <a:lvl4pPr marL="1371600" indent="0" algn="l">
              <a:buNone/>
              <a:defRPr sz="2000">
                <a:solidFill>
                  <a:schemeClr val="bg1"/>
                </a:solidFill>
                <a:latin typeface="+mj-lt"/>
              </a:defRPr>
            </a:lvl4pPr>
            <a:lvl5pPr marL="1828800" indent="0" algn="l">
              <a:buNone/>
              <a:defRPr sz="2000">
                <a:solidFill>
                  <a:schemeClr val="bg1"/>
                </a:solidFill>
                <a:latin typeface="+mj-lt"/>
              </a:defRPr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8581E8-B832-44F5-8573-1D49AF804E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48642" y="4040803"/>
            <a:ext cx="7766978" cy="484050"/>
          </a:xfrm>
        </p:spPr>
        <p:txBody>
          <a:bodyPr rtlCol="0">
            <a:noAutofit/>
          </a:bodyPr>
          <a:lstStyle>
            <a:lvl1pPr>
              <a:defRPr sz="18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6" name="Espaço Reservado para Data 1">
            <a:extLst>
              <a:ext uri="{FF2B5EF4-FFF2-40B4-BE49-F238E27FC236}">
                <a16:creationId xmlns:a16="http://schemas.microsoft.com/office/drawing/2014/main" id="{38C5CB97-CD0D-4684-A674-58C891FBC20B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7" name="Espaço Reservado para Rodapé 2">
            <a:extLst>
              <a:ext uri="{FF2B5EF4-FFF2-40B4-BE49-F238E27FC236}">
                <a16:creationId xmlns:a16="http://schemas.microsoft.com/office/drawing/2014/main" id="{9DB43653-49BD-4FF8-AC52-100F2628D03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8" name="Espaço Reservado para o Número do Slide 3">
            <a:extLst>
              <a:ext uri="{FF2B5EF4-FFF2-40B4-BE49-F238E27FC236}">
                <a16:creationId xmlns:a16="http://schemas.microsoft.com/office/drawing/2014/main" id="{C175707F-64A0-469B-AE09-445DCC67D3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0BFED5AE-62FF-41D3-952B-067FA66380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85" y="-4763"/>
            <a:ext cx="5021348" cy="6858001"/>
          </a:xfrm>
        </p:spPr>
        <p:txBody>
          <a:bodyPr rtlCol="0"/>
          <a:lstStyle/>
          <a:p>
            <a:pPr rtl="0"/>
            <a:r>
              <a:rPr lang="pt-BR" noProof="0"/>
              <a:t>Clique no ícone para adicionar uma imagem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7778" y="457201"/>
            <a:ext cx="4776538" cy="2285999"/>
          </a:xfrm>
          <a:solidFill>
            <a:schemeClr val="tx1">
              <a:alpha val="92000"/>
            </a:schemeClr>
          </a:solidFill>
        </p:spPr>
        <p:txBody>
          <a:bodyPr lIns="457200" rtlCol="0" anchor="ctr"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484357"/>
            <a:ext cx="5259388" cy="444215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bg2"/>
                </a:solidFill>
                <a:latin typeface="+mj-lt"/>
              </a:defRPr>
            </a:lvl1pPr>
            <a:lvl2pPr marL="457200" indent="0">
              <a:lnSpc>
                <a:spcPct val="100000"/>
              </a:lnSpc>
              <a:buNone/>
              <a:defRPr sz="2000">
                <a:solidFill>
                  <a:schemeClr val="bg2"/>
                </a:solidFill>
                <a:latin typeface="+mj-lt"/>
              </a:defRPr>
            </a:lvl2pPr>
            <a:lvl3pPr marL="914400" indent="0">
              <a:lnSpc>
                <a:spcPct val="100000"/>
              </a:lnSpc>
              <a:buNone/>
              <a:defRPr sz="1800">
                <a:solidFill>
                  <a:schemeClr val="bg2"/>
                </a:solidFill>
                <a:latin typeface="+mj-lt"/>
              </a:defRPr>
            </a:lvl3pPr>
            <a:lvl4pPr marL="137160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  <a:latin typeface="+mj-lt"/>
              </a:defRPr>
            </a:lvl4pPr>
            <a:lvl5pPr marL="182880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Data 3">
            <a:extLst>
              <a:ext uri="{FF2B5EF4-FFF2-40B4-BE49-F238E27FC236}">
                <a16:creationId xmlns:a16="http://schemas.microsoft.com/office/drawing/2014/main" id="{D6C26EFF-CEA6-4978-A83B-400BFB2B863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81000" y="6356350"/>
            <a:ext cx="2743200" cy="365125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0FC19E3C-A9EA-4809-9D98-B4C1EB8B35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96000" y="6356350"/>
            <a:ext cx="2057400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8" name="Espaço Reservado para o Número do Slide 5">
            <a:extLst>
              <a:ext uri="{FF2B5EF4-FFF2-40B4-BE49-F238E27FC236}">
                <a16:creationId xmlns:a16="http://schemas.microsoft.com/office/drawing/2014/main" id="{973FE4BB-3117-49A2-8624-3E68B811924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rtlCol="0" anchor="b">
            <a:noAutofit/>
          </a:bodyPr>
          <a:lstStyle>
            <a:lvl1pPr>
              <a:defRPr sz="40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310938"/>
            <a:ext cx="3932237" cy="3558050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Triângulo direito 8">
            <a:extLst>
              <a:ext uri="{FF2B5EF4-FFF2-40B4-BE49-F238E27FC236}">
                <a16:creationId xmlns:a16="http://schemas.microsoft.com/office/drawing/2014/main" id="{AF17559D-BCE9-2744-9623-22E1EE6DF537}"/>
              </a:ext>
            </a:extLst>
          </p:cNvPr>
          <p:cNvSpPr/>
          <p:nvPr userDrawn="1"/>
        </p:nvSpPr>
        <p:spPr>
          <a:xfrm flipH="1">
            <a:off x="6633556" y="1429789"/>
            <a:ext cx="5558444" cy="5428211"/>
          </a:xfrm>
          <a:prstGeom prst="rt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F2EDADE-B47B-8242-8D03-079A12F1C7A2}"/>
              </a:ext>
            </a:extLst>
          </p:cNvPr>
          <p:cNvCxnSpPr>
            <a:cxnSpLocks/>
          </p:cNvCxnSpPr>
          <p:nvPr userDrawn="1"/>
        </p:nvCxnSpPr>
        <p:spPr>
          <a:xfrm>
            <a:off x="483229" y="0"/>
            <a:ext cx="0" cy="338777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1" r:id="rId4"/>
    <p:sldLayoutId id="2147483662" r:id="rId5"/>
    <p:sldLayoutId id="2147483652" r:id="rId6"/>
    <p:sldLayoutId id="2147483661" r:id="rId7"/>
    <p:sldLayoutId id="2147483653" r:id="rId8"/>
    <p:sldLayoutId id="2147483660" r:id="rId9"/>
    <p:sldLayoutId id="2147483658" r:id="rId10"/>
    <p:sldLayoutId id="2147483664" r:id="rId11"/>
    <p:sldLayoutId id="2147483663" r:id="rId12"/>
    <p:sldLayoutId id="2147483665" r:id="rId13"/>
    <p:sldLayoutId id="2147483655" r:id="rId14"/>
    <p:sldLayoutId id="2147483656" r:id="rId15"/>
    <p:sldLayoutId id="214748365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comments" Target="../comments/commen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comments" Target="../comments/commen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13" Type="http://schemas.openxmlformats.org/officeDocument/2006/relationships/image" Target="../media/image19.png"/><Relationship Id="rId3" Type="http://schemas.openxmlformats.org/officeDocument/2006/relationships/image" Target="../media/image1.jp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jpe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dbc-11364cbe-e29d.cloud.databricks.com/dashboardsv3/01f0fd74aeec1bb0a0b48912aa6d2528/published?o=7474649577673811" TargetMode="External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comments" Target="../comments/commen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86068" y="2335342"/>
            <a:ext cx="7605932" cy="1951037"/>
          </a:xfrm>
        </p:spPr>
        <p:txBody>
          <a:bodyPr rtlCol="0">
            <a:noAutofit/>
          </a:bodyPr>
          <a:lstStyle/>
          <a:p>
            <a:pPr algn="ctr"/>
            <a:r>
              <a:rPr lang="en-US" sz="2800" b="1" dirty="0"/>
              <a:t>PROVISÃO DE DEVEDORES DUVIDOSOS (PDD) PARA LINHAS DE CRÉDITO FINANCEIRAS PRIVADAS DESTINADAS AO CUSTEIO DO AGRONEGÓCIO</a:t>
            </a:r>
            <a:endParaRPr lang="pt-BR" sz="2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9331" y="4286379"/>
            <a:ext cx="4093029" cy="164247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rtl="0"/>
            <a:r>
              <a:rPr lang="pt-BR" sz="2000" dirty="0" err="1"/>
              <a:t>Capstone</a:t>
            </a:r>
            <a:r>
              <a:rPr lang="pt-BR" sz="2000" dirty="0"/>
              <a:t> Project</a:t>
            </a:r>
          </a:p>
          <a:p>
            <a:pPr algn="ctr" rtl="0"/>
            <a:r>
              <a:rPr lang="pt-BR" dirty="0"/>
              <a:t>MBA em Engenharia de Dados</a:t>
            </a:r>
          </a:p>
          <a:p>
            <a:pPr algn="ctr" rtl="0"/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17" name="Forma Livre 8">
            <a:extLst>
              <a:ext uri="{FF2B5EF4-FFF2-40B4-BE49-F238E27FC236}">
                <a16:creationId xmlns:a16="http://schemas.microsoft.com/office/drawing/2014/main" id="{32CAE77E-CF7A-47FE-869E-1176F6CAD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3770" y="-30613"/>
            <a:ext cx="3672591" cy="5431084"/>
          </a:xfrm>
          <a:custGeom>
            <a:avLst/>
            <a:gdLst>
              <a:gd name="connsiteX0" fmla="*/ 0 w 3912433"/>
              <a:gd name="connsiteY0" fmla="*/ 0 h 5021705"/>
              <a:gd name="connsiteX1" fmla="*/ 0 w 3912433"/>
              <a:gd name="connsiteY1" fmla="*/ 5021705 h 5021705"/>
              <a:gd name="connsiteX2" fmla="*/ 3912433 w 3912433"/>
              <a:gd name="connsiteY2" fmla="*/ 5021705 h 5021705"/>
              <a:gd name="connsiteX3" fmla="*/ 3912433 w 3912433"/>
              <a:gd name="connsiteY3" fmla="*/ 4287187 h 5021705"/>
              <a:gd name="connsiteX0" fmla="*/ 0 w 3912433"/>
              <a:gd name="connsiteY0" fmla="*/ 0 h 5021705"/>
              <a:gd name="connsiteX1" fmla="*/ 0 w 3912433"/>
              <a:gd name="connsiteY1" fmla="*/ 5021705 h 5021705"/>
              <a:gd name="connsiteX2" fmla="*/ 3912433 w 3912433"/>
              <a:gd name="connsiteY2" fmla="*/ 5021705 h 5021705"/>
              <a:gd name="connsiteX3" fmla="*/ 3912433 w 3912433"/>
              <a:gd name="connsiteY3" fmla="*/ 4020996 h 5021705"/>
              <a:gd name="connsiteX0" fmla="*/ 0 w 3912433"/>
              <a:gd name="connsiteY0" fmla="*/ 0 h 5168788"/>
              <a:gd name="connsiteX1" fmla="*/ 0 w 3912433"/>
              <a:gd name="connsiteY1" fmla="*/ 5168788 h 5168788"/>
              <a:gd name="connsiteX2" fmla="*/ 3912433 w 3912433"/>
              <a:gd name="connsiteY2" fmla="*/ 5168788 h 5168788"/>
              <a:gd name="connsiteX3" fmla="*/ 3912433 w 3912433"/>
              <a:gd name="connsiteY3" fmla="*/ 4168079 h 5168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12433" h="5168788">
                <a:moveTo>
                  <a:pt x="0" y="0"/>
                </a:moveTo>
                <a:lnTo>
                  <a:pt x="0" y="5168788"/>
                </a:lnTo>
                <a:lnTo>
                  <a:pt x="3912433" y="5168788"/>
                </a:lnTo>
                <a:lnTo>
                  <a:pt x="3912433" y="4168079"/>
                </a:lnTo>
              </a:path>
            </a:pathLst>
          </a:cu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/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2B7F3532-0764-4856-AF98-4671C7227F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5546361" y="-29980"/>
            <a:ext cx="0" cy="221854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84DF5FE2-61AE-01F6-E83F-95A98C7F2D3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7813" b="7813"/>
          <a:stretch>
            <a:fillRect/>
          </a:stretch>
        </p:blipFill>
        <p:spPr/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DA461B-516D-AFC5-D10E-974208B27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687" y="5206563"/>
            <a:ext cx="1250316" cy="38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11" y="876926"/>
            <a:ext cx="5079113" cy="1356607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10" y="1856936"/>
            <a:ext cx="4205990" cy="341845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pt-BR" dirty="0"/>
              <a:t>Quem Somos</a:t>
            </a:r>
          </a:p>
          <a:p>
            <a:pPr rtl="0"/>
            <a:r>
              <a:rPr lang="pt-BR" dirty="0"/>
              <a:t>Introdução</a:t>
            </a:r>
          </a:p>
          <a:p>
            <a:pPr rtl="0"/>
            <a:r>
              <a:rPr lang="pt-BR" dirty="0"/>
              <a:t>Contexto de Negócio</a:t>
            </a:r>
          </a:p>
          <a:p>
            <a:pPr rtl="0"/>
            <a:r>
              <a:rPr lang="pt-BR" dirty="0"/>
              <a:t>Proposta de Solução</a:t>
            </a:r>
          </a:p>
          <a:p>
            <a:r>
              <a:rPr lang="pt-BR" dirty="0"/>
              <a:t>Arquitetura e Ferramentas</a:t>
            </a:r>
          </a:p>
          <a:p>
            <a:r>
              <a:rPr lang="pt-BR" dirty="0"/>
              <a:t>Construção</a:t>
            </a:r>
          </a:p>
          <a:p>
            <a:pPr rtl="0"/>
            <a:r>
              <a:rPr lang="pt-BR" dirty="0"/>
              <a:t>Resultados</a:t>
            </a:r>
          </a:p>
          <a:p>
            <a:pPr rtl="0"/>
            <a:r>
              <a:rPr lang="pt-BR" dirty="0"/>
              <a:t>Próximos Passos</a:t>
            </a:r>
          </a:p>
          <a:p>
            <a:pPr rtl="0"/>
            <a:endParaRPr lang="pt-BR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B6F16CF0-2D6F-4308-84F3-0D90106EF4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smtClean="0"/>
              <a:pPr/>
              <a:t>2</a:t>
            </a:fld>
            <a:endParaRPr lang="pt-BR"/>
          </a:p>
        </p:txBody>
      </p:sp>
      <p:pic>
        <p:nvPicPr>
          <p:cNvPr id="11" name="Espaço Reservado para Imagem 10">
            <a:extLst>
              <a:ext uri="{FF2B5EF4-FFF2-40B4-BE49-F238E27FC236}">
                <a16:creationId xmlns:a16="http://schemas.microsoft.com/office/drawing/2014/main" id="{33BCC8B3-DB64-09AF-E0F5-94495CFCDF0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4359" r="2435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m 21">
            <a:extLst>
              <a:ext uri="{FF2B5EF4-FFF2-40B4-BE49-F238E27FC236}">
                <a16:creationId xmlns:a16="http://schemas.microsoft.com/office/drawing/2014/main" id="{DE252639-6567-1994-091B-9609124B6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502" y="1"/>
            <a:ext cx="5912498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43047E-FBFD-4F79-BCA5-10E69740F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675" y="3846787"/>
            <a:ext cx="5895325" cy="1076196"/>
          </a:xfrm>
          <a:solidFill>
            <a:srgbClr val="192A2E"/>
          </a:solidFill>
        </p:spPr>
        <p:txBody>
          <a:bodyPr rtlCol="0">
            <a:normAutofit/>
          </a:bodyPr>
          <a:lstStyle/>
          <a:p>
            <a:pPr rtl="0"/>
            <a:r>
              <a:rPr lang="pt-BR" dirty="0">
                <a:solidFill>
                  <a:schemeClr val="bg1"/>
                </a:solidFill>
              </a:rPr>
              <a:t>Quem somos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6E3CF335-A06F-480E-9118-2C9F4558C20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3</a:t>
            </a:fld>
            <a:endParaRPr lang="pt-BR" dirty="0"/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16F3508C-13C4-0BAC-D040-9154FF2FB277}"/>
              </a:ext>
            </a:extLst>
          </p:cNvPr>
          <p:cNvSpPr txBox="1">
            <a:spLocks/>
          </p:cNvSpPr>
          <p:nvPr/>
        </p:nvSpPr>
        <p:spPr>
          <a:xfrm>
            <a:off x="2431439" y="1306317"/>
            <a:ext cx="3830890" cy="9747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pt-BR" sz="2000" dirty="0">
                <a:latin typeface="+mj-lt"/>
              </a:rPr>
              <a:t>Bianca</a:t>
            </a:r>
            <a:r>
              <a:rPr lang="pt-BR" sz="2000" dirty="0"/>
              <a:t> </a:t>
            </a:r>
            <a:r>
              <a:rPr lang="pt-BR" sz="2000" dirty="0">
                <a:latin typeface="+mj-lt"/>
              </a:rPr>
              <a:t>Pereira de Lima Lourenço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2000" dirty="0">
                <a:latin typeface="+mj-lt"/>
              </a:rPr>
              <a:t>Software Engineer </a:t>
            </a:r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6A46007-9065-2136-F117-82DE682C1C8C}"/>
              </a:ext>
            </a:extLst>
          </p:cNvPr>
          <p:cNvSpPr txBox="1">
            <a:spLocks/>
          </p:cNvSpPr>
          <p:nvPr/>
        </p:nvSpPr>
        <p:spPr>
          <a:xfrm>
            <a:off x="2431440" y="3359399"/>
            <a:ext cx="3865236" cy="9747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pt-BR" sz="2000" dirty="0">
                <a:latin typeface="+mj-lt"/>
              </a:rPr>
              <a:t>Leonardo do Nascimento Taguchi</a:t>
            </a:r>
          </a:p>
          <a:p>
            <a:pPr marL="0" indent="0">
              <a:spcBef>
                <a:spcPts val="0"/>
              </a:spcBef>
              <a:buNone/>
            </a:pPr>
            <a:r>
              <a:rPr lang="pt-BR" sz="2000" dirty="0">
                <a:latin typeface="+mj-lt"/>
              </a:rPr>
              <a:t>Software Engineer 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786FD8B6-7DE0-775D-A79C-AF41940E8D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01" y="954360"/>
            <a:ext cx="1620000" cy="1616385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0ECE63E-2848-5D73-11BC-E3367C029A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01" y="3039208"/>
            <a:ext cx="1637173" cy="1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86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676650"/>
            <a:ext cx="10515600" cy="1252163"/>
          </a:xfrm>
        </p:spPr>
        <p:txBody>
          <a:bodyPr rtlCol="0"/>
          <a:lstStyle/>
          <a:p>
            <a:pPr rtl="0"/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928813"/>
            <a:ext cx="10515600" cy="164566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rtl="0"/>
            <a:r>
              <a:rPr lang="pt-BR" dirty="0"/>
              <a:t>O agronegócio é um dos principais motores da economia brasileira, com forte impacto no PIB, exportações e </a:t>
            </a:r>
            <a:r>
              <a:rPr lang="pt-BR" dirty="0">
                <a:solidFill>
                  <a:srgbClr val="936959"/>
                </a:solidFill>
              </a:rPr>
              <a:t>emprego</a:t>
            </a:r>
            <a:r>
              <a:rPr lang="pt-BR" dirty="0"/>
              <a:t>.</a:t>
            </a:r>
          </a:p>
          <a:p>
            <a:pPr rtl="0"/>
            <a:r>
              <a:rPr lang="pt-BR" dirty="0"/>
              <a:t>O crédito privado para custeio é essencial para a continuidade e expansão da atividade agropecuária.</a:t>
            </a:r>
          </a:p>
          <a:p>
            <a:pPr rtl="0"/>
            <a:r>
              <a:rPr lang="pt-BR" dirty="0"/>
              <a:t>A adequada mensuração do risco de crédito, por meio da PDD, é fundamental para a sustentabilidade das instituições financeiras.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793EAC-1C63-48A8-A1F6-B99D0D21E2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9DB856-36DA-450C-BBE3-B505DB80DCC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pt-BR"/>
              <a:t>Título da 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34A761C-7039-4C48-BCE5-1581B37826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4</a:t>
            </a:fld>
            <a:endParaRPr lang="pt-BR"/>
          </a:p>
        </p:txBody>
      </p:sp>
      <p:pic>
        <p:nvPicPr>
          <p:cNvPr id="11" name="Espaço Reservado para Imagem 10">
            <a:extLst>
              <a:ext uri="{FF2B5EF4-FFF2-40B4-BE49-F238E27FC236}">
                <a16:creationId xmlns:a16="http://schemas.microsoft.com/office/drawing/2014/main" id="{6EFD6EF9-E53F-9A41-6F97-7168EF6D64C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9688" b="2968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60295B-54B9-4937-90E3-BAB9CE69E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631132"/>
            <a:ext cx="11118272" cy="1662546"/>
          </a:xfrm>
        </p:spPr>
        <p:txBody>
          <a:bodyPr rtlCol="0"/>
          <a:lstStyle/>
          <a:p>
            <a:pPr rtl="0"/>
            <a:r>
              <a:rPr lang="pt-BR" dirty="0"/>
              <a:t>Contexto de Negócio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51A6D85-3837-435F-A342-5A3F98172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982" y="4593635"/>
            <a:ext cx="10834254" cy="16625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dirty="0"/>
              <a:t>A PDD é essencial para a gestão do risco de crédito, porém modelos tradicionais não capturam adequadamente a sazonalidade, o clima e a volatilidade das commodities.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C12D1DB-98A9-477C-8F80-806B56E5CF7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t>5</a:t>
            </a:fld>
            <a:endParaRPr lang="pt-BR"/>
          </a:p>
        </p:txBody>
      </p:sp>
      <p:pic>
        <p:nvPicPr>
          <p:cNvPr id="10" name="Espaço Reservado para Imagem 9">
            <a:extLst>
              <a:ext uri="{FF2B5EF4-FFF2-40B4-BE49-F238E27FC236}">
                <a16:creationId xmlns:a16="http://schemas.microsoft.com/office/drawing/2014/main" id="{8FA38594-DB9C-C1B4-A202-562C12F5CD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3960" b="3396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46797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89F4EE88-E231-B808-C0DF-30E7933EF5C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7503" b="37503"/>
          <a:stretch>
            <a:fillRect/>
          </a:stretch>
        </p:blipFill>
        <p:spPr/>
      </p:pic>
      <p:sp>
        <p:nvSpPr>
          <p:cNvPr id="50" name="Título 49">
            <a:extLst>
              <a:ext uri="{FF2B5EF4-FFF2-40B4-BE49-F238E27FC236}">
                <a16:creationId xmlns:a16="http://schemas.microsoft.com/office/drawing/2014/main" id="{DECB401E-988F-466F-9DA1-EE593252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Proposta de Solução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9B60A718-7E5A-4370-AFB2-C0EBC1706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2CCA50B-18FE-B11E-9C15-79311CBCF5B6}"/>
              </a:ext>
            </a:extLst>
          </p:cNvPr>
          <p:cNvSpPr txBox="1"/>
          <p:nvPr/>
        </p:nvSpPr>
        <p:spPr>
          <a:xfrm>
            <a:off x="1163993" y="2240528"/>
            <a:ext cx="103779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936959"/>
                </a:solidFill>
                <a:latin typeface="+mj-lt"/>
              </a:rPr>
              <a:t>Propõe-se uma solução analítica baseada em integração de dados internos e externos para aprimorar a estimativa e a previsão da PDD.</a:t>
            </a:r>
          </a:p>
        </p:txBody>
      </p:sp>
    </p:spTree>
    <p:extLst>
      <p:ext uri="{BB962C8B-B14F-4D97-AF65-F5344CB8AC3E}">
        <p14:creationId xmlns:p14="http://schemas.microsoft.com/office/powerpoint/2010/main" val="3645578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8DC5E-3C5C-E871-61EB-E91B59EB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32C81282-0F37-6761-213A-5E2E92298BF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DF70EB2-760F-06B5-2418-71148C22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Arquitetura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ABBBD765-C40F-EF84-05AD-E03B66682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7</a:t>
            </a:fld>
            <a:endParaRPr lang="pt-BR"/>
          </a:p>
        </p:txBody>
      </p:sp>
      <p:pic>
        <p:nvPicPr>
          <p:cNvPr id="30" name="Espaço Reservado para Conteúdo 29">
            <a:extLst>
              <a:ext uri="{FF2B5EF4-FFF2-40B4-BE49-F238E27FC236}">
                <a16:creationId xmlns:a16="http://schemas.microsoft.com/office/drawing/2014/main" id="{613DC2B1-C994-C30F-7355-434A1B807F3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tretch>
            <a:fillRect/>
          </a:stretch>
        </p:blipFill>
        <p:spPr>
          <a:xfrm>
            <a:off x="1097279" y="2346036"/>
            <a:ext cx="9997440" cy="3786911"/>
          </a:xfrm>
        </p:spPr>
      </p:pic>
    </p:spTree>
    <p:extLst>
      <p:ext uri="{BB962C8B-B14F-4D97-AF65-F5344CB8AC3E}">
        <p14:creationId xmlns:p14="http://schemas.microsoft.com/office/powerpoint/2010/main" val="358743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7955B-6004-24C3-470A-19D593B2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F6F66E22-7FED-87C8-4F9B-4D769C42313B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90D1858-3DC6-94C0-B5E0-3D42E62C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Ferramentas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DACA8CBE-0835-7447-0CAF-DDBC569B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8</a:t>
            </a:fld>
            <a:endParaRPr lang="pt-BR"/>
          </a:p>
        </p:txBody>
      </p:sp>
      <p:pic>
        <p:nvPicPr>
          <p:cNvPr id="3074" name="Picture 2" descr="What is GitHub? - Pythia Foundations">
            <a:extLst>
              <a:ext uri="{FF2B5EF4-FFF2-40B4-BE49-F238E27FC236}">
                <a16:creationId xmlns:a16="http://schemas.microsoft.com/office/drawing/2014/main" id="{8F6AFA53-5D96-C848-E930-3BEC51D70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61" y="2488498"/>
            <a:ext cx="1726075" cy="96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Quais são as seções básicas do template do CloudFormation? – Openin –  Pioneira em Pentaho no Brasil">
            <a:extLst>
              <a:ext uri="{FF2B5EF4-FFF2-40B4-BE49-F238E27FC236}">
                <a16:creationId xmlns:a16="http://schemas.microsoft.com/office/drawing/2014/main" id="{2DEF2CA6-03EC-1430-A069-5BAD7D12F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09" y="2208090"/>
            <a:ext cx="1389425" cy="138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D88317D-116B-943E-3E30-980E49850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1242" y="2328650"/>
            <a:ext cx="1435630" cy="1268865"/>
          </a:xfrm>
          <a:prstGeom prst="rect">
            <a:avLst/>
          </a:prstGeom>
        </p:spPr>
      </p:pic>
      <p:pic>
        <p:nvPicPr>
          <p:cNvPr id="3086" name="Picture 14" descr="Databricks, a startup de US$ 28 bi apoiada por Alphabet e Amazon">
            <a:extLst>
              <a:ext uri="{FF2B5EF4-FFF2-40B4-BE49-F238E27FC236}">
                <a16:creationId xmlns:a16="http://schemas.microsoft.com/office/drawing/2014/main" id="{7B69D49F-B172-EE30-2008-FF041B046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149" y="4436615"/>
            <a:ext cx="1838323" cy="96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PostgreSQL preços, funcionalidades [revisão completa]">
            <a:extLst>
              <a:ext uri="{FF2B5EF4-FFF2-40B4-BE49-F238E27FC236}">
                <a16:creationId xmlns:a16="http://schemas.microsoft.com/office/drawing/2014/main" id="{309D89AC-2867-A7ED-1E8B-8FCD28D97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1394" y="4281485"/>
            <a:ext cx="1524817" cy="152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B676657-48BB-E5F6-9C6E-D46FB9413B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49444" y="4543861"/>
            <a:ext cx="2027069" cy="859356"/>
          </a:xfrm>
          <a:prstGeom prst="rect">
            <a:avLst/>
          </a:prstGeom>
        </p:spPr>
      </p:pic>
      <p:pic>
        <p:nvPicPr>
          <p:cNvPr id="3090" name="Picture 18" descr="DBeaver Ultimate 1 year License Subscription | E-SPIN Group">
            <a:extLst>
              <a:ext uri="{FF2B5EF4-FFF2-40B4-BE49-F238E27FC236}">
                <a16:creationId xmlns:a16="http://schemas.microsoft.com/office/drawing/2014/main" id="{05A35DD2-90CC-F995-C3C2-52F4A18E9E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757" y="2258342"/>
            <a:ext cx="1389424" cy="138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AutoShape 8" descr="Online PySpark IDE for Real-Time Interviews - CodeInterview">
            <a:extLst>
              <a:ext uri="{FF2B5EF4-FFF2-40B4-BE49-F238E27FC236}">
                <a16:creationId xmlns:a16="http://schemas.microsoft.com/office/drawing/2014/main" id="{3D72E2A2-7C9B-2669-AB5F-111FE4C522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C66E20B-F110-FEC5-2085-28BCA58BBDC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00847" y="4356581"/>
            <a:ext cx="1694000" cy="1268865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8C58ACD9-7116-C02D-0471-4C6F7532A5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84574" y="2426786"/>
            <a:ext cx="1964870" cy="110400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119196F-0305-BC8A-04FD-4B22DF5D82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9210" y="4356581"/>
            <a:ext cx="1007821" cy="1126668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2BE92AB3-9424-D0D6-9E20-0E53672420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7974" y="4281485"/>
            <a:ext cx="1729707" cy="1201764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BD8E0FE-980C-7E91-DB5A-3C168834646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90700" y="2353969"/>
            <a:ext cx="1344558" cy="125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42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193C7-CE66-2BFD-E6D8-87BA6933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1F04C1D5-05C0-F8CC-E8E7-2E08152CD49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A31157-3DC1-E99D-564B-F2D77A424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00FB75A-C258-4386-C5D4-F2CCB0D6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9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CFE7B96-DDD9-D466-36A1-B7DE02BCC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9964" y="2150874"/>
            <a:ext cx="9790545" cy="400054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3C6DC9B-5A5D-9F27-B8F9-10B5E110F805}"/>
              </a:ext>
            </a:extLst>
          </p:cNvPr>
          <p:cNvSpPr txBox="1"/>
          <p:nvPr/>
        </p:nvSpPr>
        <p:spPr>
          <a:xfrm>
            <a:off x="3168073" y="4331855"/>
            <a:ext cx="65167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Criação da base PostgreSQL na AWS</a:t>
            </a:r>
          </a:p>
        </p:txBody>
      </p:sp>
    </p:spTree>
    <p:extLst>
      <p:ext uri="{BB962C8B-B14F-4D97-AF65-F5344CB8AC3E}">
        <p14:creationId xmlns:p14="http://schemas.microsoft.com/office/powerpoint/2010/main" val="1667572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03971-9527-9566-8754-292E30BA1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6FE0A772-5E9F-3301-80B7-0D9A1C5BC503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0209026-AF1E-8342-9B80-AAD3BF517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0ACFA51C-8EED-B389-43EB-BFA37920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10</a:t>
            </a:fld>
            <a:endParaRPr lang="pt-BR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F6E730CA-467E-E8BF-9DA6-63B7F9069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0846" y="2704089"/>
            <a:ext cx="3448915" cy="1404802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FDDD5382-040F-FDD8-D1E7-289BDB48A3DB}"/>
              </a:ext>
            </a:extLst>
          </p:cNvPr>
          <p:cNvSpPr txBox="1"/>
          <p:nvPr/>
        </p:nvSpPr>
        <p:spPr>
          <a:xfrm>
            <a:off x="3133924" y="2119314"/>
            <a:ext cx="5911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Criação das tabelas pelo </a:t>
            </a:r>
            <a:r>
              <a:rPr lang="pt-BR" sz="3200" dirty="0" err="1">
                <a:solidFill>
                  <a:srgbClr val="FF0000"/>
                </a:solidFill>
                <a:latin typeface="+mj-lt"/>
              </a:rPr>
              <a:t>Dbeaver</a:t>
            </a:r>
            <a:endParaRPr lang="pt-BR" sz="3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FAD58B-D8BB-FEE2-D436-5F45C1EB1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3576" y="4555339"/>
            <a:ext cx="2605385" cy="150119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F466C19-7B1C-DED6-0EE8-3106AF8A96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3576" y="2704089"/>
            <a:ext cx="2745005" cy="166211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1F1D0DB-E2E7-5839-7509-EDC8AB33CB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2715" y="4555339"/>
            <a:ext cx="330517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393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BBE5E-69EA-0C05-49C8-DC3F05881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42F77AD4-6544-8480-CB4C-DDCF1673586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A1AA176-82B7-213E-9F7C-212A589DA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5701C2C8-A2BC-BA2D-89E6-D258F3317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11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88D5A11-A35B-17B0-11C7-A33A1A852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324" y="2952503"/>
            <a:ext cx="5400476" cy="3171850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231F71-2C77-570C-8D9A-143059FC6DDA}"/>
              </a:ext>
            </a:extLst>
          </p:cNvPr>
          <p:cNvSpPr txBox="1"/>
          <p:nvPr/>
        </p:nvSpPr>
        <p:spPr>
          <a:xfrm>
            <a:off x="3286324" y="2271714"/>
            <a:ext cx="5386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Diagrama das Tabelas Criadas</a:t>
            </a:r>
          </a:p>
        </p:txBody>
      </p:sp>
    </p:spTree>
    <p:extLst>
      <p:ext uri="{BB962C8B-B14F-4D97-AF65-F5344CB8AC3E}">
        <p14:creationId xmlns:p14="http://schemas.microsoft.com/office/powerpoint/2010/main" val="312477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AA48D-800E-24B6-7CA2-6FF9C771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10B22808-2CE3-78F8-F4D1-85BC8BCA3F0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9329E5-5B62-B767-293C-5A6D513D9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D92C09E2-0B28-1DAD-7158-983B44322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12</a:t>
            </a:fld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DEE624B-B7E7-551C-C526-E48152595049}"/>
              </a:ext>
            </a:extLst>
          </p:cNvPr>
          <p:cNvSpPr txBox="1"/>
          <p:nvPr/>
        </p:nvSpPr>
        <p:spPr>
          <a:xfrm>
            <a:off x="1072488" y="2143998"/>
            <a:ext cx="100222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Inclusão dos dados nas tabelas </a:t>
            </a:r>
            <a:r>
              <a:rPr lang="pt-BR" sz="3200" dirty="0" err="1">
                <a:solidFill>
                  <a:srgbClr val="FF0000"/>
                </a:solidFill>
                <a:latin typeface="+mj-lt"/>
              </a:rPr>
              <a:t>Rating_Cliente</a:t>
            </a:r>
            <a:r>
              <a:rPr lang="pt-BR" sz="3200" dirty="0">
                <a:solidFill>
                  <a:srgbClr val="FF0000"/>
                </a:solidFill>
                <a:latin typeface="+mj-lt"/>
              </a:rPr>
              <a:t> e Contrato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8DDA0D4-2D6C-22D4-A167-735F65CD62E3}"/>
              </a:ext>
            </a:extLst>
          </p:cNvPr>
          <p:cNvSpPr txBox="1"/>
          <p:nvPr/>
        </p:nvSpPr>
        <p:spPr>
          <a:xfrm>
            <a:off x="0" y="6108411"/>
            <a:ext cx="2542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Dados Fictícios gerados por I.A</a:t>
            </a: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9D01622-0308-AA26-1719-08B8E29138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278" y="2728773"/>
            <a:ext cx="2723817" cy="3257767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543CDD3E-41E0-546D-E645-881EE11A75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0701" y="2728773"/>
            <a:ext cx="6814018" cy="2765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3538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CC133-BFDB-0E06-566E-07F4F49C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5D20661F-B581-1B26-3C97-6E56AD5816D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57AEE9-19F5-2389-91B8-0D57F952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8462DE7D-EA87-8E5F-6C70-D7DF3828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13</a:t>
            </a:fld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4A1E057-D486-55A4-E00A-9FE40E088703}"/>
              </a:ext>
            </a:extLst>
          </p:cNvPr>
          <p:cNvSpPr txBox="1"/>
          <p:nvPr/>
        </p:nvSpPr>
        <p:spPr>
          <a:xfrm>
            <a:off x="2192141" y="2143998"/>
            <a:ext cx="7979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Inclusão dos dados na tabela Rating e Cliente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5E4BC19-4D9F-4E3E-64D7-6DDBD4BCD2E5}"/>
              </a:ext>
            </a:extLst>
          </p:cNvPr>
          <p:cNvSpPr txBox="1"/>
          <p:nvPr/>
        </p:nvSpPr>
        <p:spPr>
          <a:xfrm>
            <a:off x="0" y="6108411"/>
            <a:ext cx="2542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Dados Fictícios gerados por I.A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4B9673F-A4B1-5B90-B81E-8E0F040CC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22" y="2881031"/>
            <a:ext cx="4502201" cy="277017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39C4ABD-6D47-231A-839C-CC89EEE75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0126" y="2881031"/>
            <a:ext cx="5494593" cy="277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18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B92B4-1646-417A-22E5-42D812532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E41BBFF8-87FB-7BBB-C8C9-756245ABA9B8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C24B578-AB56-C083-DA4A-1A991A9A0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45BF097D-A3CC-ECB9-6CD5-DA636FB3F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14</a:t>
            </a:fld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31CA3C98-B6B3-C18E-F9B0-3983EBDC8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7540" y="2873686"/>
            <a:ext cx="4807182" cy="302546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D618BA34-3261-1088-95C7-12523069D1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0445" y="2713904"/>
            <a:ext cx="4807182" cy="332539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554EF0AF-E8B6-6960-3719-189F5E7D620E}"/>
              </a:ext>
            </a:extLst>
          </p:cNvPr>
          <p:cNvSpPr txBox="1"/>
          <p:nvPr/>
        </p:nvSpPr>
        <p:spPr>
          <a:xfrm>
            <a:off x="2018785" y="2129128"/>
            <a:ext cx="6138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Dados nas tabelas Rating e Cliente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3BEB696-E73C-DCAE-95D6-7521F9FAF6DB}"/>
              </a:ext>
            </a:extLst>
          </p:cNvPr>
          <p:cNvSpPr txBox="1"/>
          <p:nvPr/>
        </p:nvSpPr>
        <p:spPr>
          <a:xfrm>
            <a:off x="0" y="6108411"/>
            <a:ext cx="2542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Dados Fictícios gerados por I.A</a:t>
            </a:r>
          </a:p>
        </p:txBody>
      </p:sp>
    </p:spTree>
    <p:extLst>
      <p:ext uri="{BB962C8B-B14F-4D97-AF65-F5344CB8AC3E}">
        <p14:creationId xmlns:p14="http://schemas.microsoft.com/office/powerpoint/2010/main" val="3697674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7054C-22AB-2167-57EC-27669A071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34B2A61F-4D65-4269-83BE-A5E396F34061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04FFD04-3BBC-D806-5871-92859C185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25F562B5-59AA-2603-7F49-89DF75E44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15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D7D9ECF5-2982-02A3-4D52-874213164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656" y="2710704"/>
            <a:ext cx="5704012" cy="3507479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72077166-1B5D-02D9-8BF9-0EE567CA3540}"/>
              </a:ext>
            </a:extLst>
          </p:cNvPr>
          <p:cNvSpPr txBox="1"/>
          <p:nvPr/>
        </p:nvSpPr>
        <p:spPr>
          <a:xfrm>
            <a:off x="3026921" y="2125929"/>
            <a:ext cx="61381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Dados nas tabelas Rating e Cliente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42BA603-C6C0-ED87-6F42-90B7F31B7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7053" y="2710703"/>
            <a:ext cx="1319735" cy="35074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4437B14-7A07-0F0A-F80D-47404DFEDC32}"/>
              </a:ext>
            </a:extLst>
          </p:cNvPr>
          <p:cNvSpPr txBox="1"/>
          <p:nvPr/>
        </p:nvSpPr>
        <p:spPr>
          <a:xfrm>
            <a:off x="0" y="6108411"/>
            <a:ext cx="25425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>
                <a:solidFill>
                  <a:srgbClr val="FF0000"/>
                </a:solidFill>
                <a:latin typeface="+mj-lt"/>
              </a:rPr>
              <a:t>Dados Fictícios gerados por I.A</a:t>
            </a:r>
          </a:p>
        </p:txBody>
      </p:sp>
    </p:spTree>
    <p:extLst>
      <p:ext uri="{BB962C8B-B14F-4D97-AF65-F5344CB8AC3E}">
        <p14:creationId xmlns:p14="http://schemas.microsoft.com/office/powerpoint/2010/main" val="3159544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C717F-BA7C-8269-EEC9-D6521D7C1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DADBEDF4-DB85-21A3-9282-1E0A7480994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03117D8-CCD6-356A-768D-A2B5CB2FB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F0CC29A0-F851-528C-67C5-36C036D5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16</a:t>
            </a:fld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E77626A-CD80-A9E9-F29E-03EA2B246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258" y="2823472"/>
            <a:ext cx="10485712" cy="282871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AF4959A-A6DC-CD3D-AF18-BD38B9B1C2BE}"/>
              </a:ext>
            </a:extLst>
          </p:cNvPr>
          <p:cNvSpPr txBox="1"/>
          <p:nvPr/>
        </p:nvSpPr>
        <p:spPr>
          <a:xfrm>
            <a:off x="3026921" y="2125929"/>
            <a:ext cx="61087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err="1">
                <a:solidFill>
                  <a:srgbClr val="FF0000"/>
                </a:solidFill>
                <a:latin typeface="+mj-lt"/>
              </a:rPr>
              <a:t>WorkSpace</a:t>
            </a:r>
            <a:r>
              <a:rPr lang="pt-BR" sz="3200" dirty="0">
                <a:solidFill>
                  <a:srgbClr val="FF0000"/>
                </a:solidFill>
                <a:latin typeface="+mj-lt"/>
              </a:rPr>
              <a:t> integrado com GitHub</a:t>
            </a:r>
          </a:p>
        </p:txBody>
      </p:sp>
    </p:spTree>
    <p:extLst>
      <p:ext uri="{BB962C8B-B14F-4D97-AF65-F5344CB8AC3E}">
        <p14:creationId xmlns:p14="http://schemas.microsoft.com/office/powerpoint/2010/main" val="2672251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C085-E735-D898-C4A5-822BC58D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77C7337D-7F5D-77B7-EF51-27352EEB828F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B0FE0F2-9A12-19D8-B003-A90580643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9734F446-3BC2-0CDB-8168-85BBE2D6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17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AFCD855-5042-F432-FFC8-CC2F8F26F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4828" y="2603149"/>
            <a:ext cx="6998924" cy="3618906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556C044B-B7ED-B0AB-C24A-F14F77BA8200}"/>
              </a:ext>
            </a:extLst>
          </p:cNvPr>
          <p:cNvSpPr txBox="1"/>
          <p:nvPr/>
        </p:nvSpPr>
        <p:spPr>
          <a:xfrm>
            <a:off x="3026921" y="2125929"/>
            <a:ext cx="54625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Desenvolvimento do Notebook</a:t>
            </a:r>
          </a:p>
        </p:txBody>
      </p:sp>
    </p:spTree>
    <p:extLst>
      <p:ext uri="{BB962C8B-B14F-4D97-AF65-F5344CB8AC3E}">
        <p14:creationId xmlns:p14="http://schemas.microsoft.com/office/powerpoint/2010/main" val="1947044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6FB43-67A9-8FDB-4AF7-0E90E676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3E0A8114-D2A4-4421-388B-12CDAABC822D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0A5E502-68F8-296E-A527-C6EFA63EE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28F5D795-323B-4596-636E-18FF64470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18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ED98AD8-44E4-3B18-0CDB-4B46F2440F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8" y="2196041"/>
            <a:ext cx="9997441" cy="362638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55B4C50-B028-952F-1BC5-108318FCF12E}"/>
              </a:ext>
            </a:extLst>
          </p:cNvPr>
          <p:cNvSpPr txBox="1"/>
          <p:nvPr/>
        </p:nvSpPr>
        <p:spPr>
          <a:xfrm>
            <a:off x="4811333" y="2196041"/>
            <a:ext cx="27163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Criação do </a:t>
            </a:r>
            <a:r>
              <a:rPr lang="pt-BR" sz="3200" dirty="0" err="1">
                <a:solidFill>
                  <a:srgbClr val="FF0000"/>
                </a:solidFill>
                <a:latin typeface="+mj-lt"/>
              </a:rPr>
              <a:t>Job</a:t>
            </a:r>
            <a:endParaRPr lang="pt-BR" sz="32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9056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3BDAF-E08F-E24D-DC5E-A603F502E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32296C66-99EC-8F40-280A-574BA8D9CFB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DFBF88A-0E43-9669-FAA8-D0A8256E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FC9D50A1-C3AB-8ED6-1C16-30343DF0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19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91FA6B9-F6C7-935F-454F-D92A89FA910D}"/>
              </a:ext>
            </a:extLst>
          </p:cNvPr>
          <p:cNvSpPr txBox="1"/>
          <p:nvPr/>
        </p:nvSpPr>
        <p:spPr>
          <a:xfrm>
            <a:off x="3762379" y="2093226"/>
            <a:ext cx="46672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Orquestração com </a:t>
            </a:r>
            <a:r>
              <a:rPr lang="pt-BR" sz="3200" dirty="0" err="1">
                <a:solidFill>
                  <a:srgbClr val="FF0000"/>
                </a:solidFill>
                <a:latin typeface="+mj-lt"/>
              </a:rPr>
              <a:t>Airflow</a:t>
            </a:r>
            <a:endParaRPr lang="pt-BR" sz="320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A1BB27E-1EF0-3C4E-4E6F-9E3658E521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304" y="2801722"/>
            <a:ext cx="9333390" cy="309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90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1F015-3739-D3D8-215A-14E27FB1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0B2C9DFB-D68D-5715-3CCF-72499EF9B63A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1D64BE-B550-72EB-7D71-B05729DF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8B55105A-5784-D912-E125-D11E2A98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20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FE6CC3-E8E6-71FB-FA53-5064C6515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285" y="2493815"/>
            <a:ext cx="7911014" cy="300224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D1A45708-D81D-C73F-488B-FE28371246AE}"/>
              </a:ext>
            </a:extLst>
          </p:cNvPr>
          <p:cNvSpPr txBox="1"/>
          <p:nvPr/>
        </p:nvSpPr>
        <p:spPr>
          <a:xfrm>
            <a:off x="3762379" y="2093226"/>
            <a:ext cx="52469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Configuração das notificações</a:t>
            </a:r>
          </a:p>
        </p:txBody>
      </p:sp>
    </p:spTree>
    <p:extLst>
      <p:ext uri="{BB962C8B-B14F-4D97-AF65-F5344CB8AC3E}">
        <p14:creationId xmlns:p14="http://schemas.microsoft.com/office/powerpoint/2010/main" val="1715158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45D72-ECB1-205E-A4B9-CB484395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AA39A1DC-EE9C-AFE4-C3D8-EB085004835D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5D86030-F8FE-0881-5456-B3999A137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9F46A8FE-A951-6036-16D6-A5E98F6D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21</a:t>
            </a:fld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64E952-AB75-6B40-59AC-283361B21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9106" y="2755831"/>
            <a:ext cx="8984202" cy="2506801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C7DEDDE0-7F3A-1894-2FB4-87FE9A34A6EE}"/>
              </a:ext>
            </a:extLst>
          </p:cNvPr>
          <p:cNvSpPr txBox="1"/>
          <p:nvPr/>
        </p:nvSpPr>
        <p:spPr>
          <a:xfrm>
            <a:off x="3762379" y="2093226"/>
            <a:ext cx="4610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Recepção das notificações</a:t>
            </a:r>
          </a:p>
        </p:txBody>
      </p:sp>
    </p:spTree>
    <p:extLst>
      <p:ext uri="{BB962C8B-B14F-4D97-AF65-F5344CB8AC3E}">
        <p14:creationId xmlns:p14="http://schemas.microsoft.com/office/powerpoint/2010/main" val="15750049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0667-ACF7-5F39-722A-77AF5347E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909E059E-03F1-987E-3495-B5F7699745D5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DD51B7A-E83F-9BE9-4D91-3D4D37EF6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C0C269CF-C8BA-EF97-0775-7D392FEA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22</a:t>
            </a:fld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73CF9CB-3C2D-65B1-83BA-08A69EA9C153}"/>
              </a:ext>
            </a:extLst>
          </p:cNvPr>
          <p:cNvSpPr txBox="1"/>
          <p:nvPr/>
        </p:nvSpPr>
        <p:spPr>
          <a:xfrm>
            <a:off x="3762379" y="2093226"/>
            <a:ext cx="4148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Catalogação dos dados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8984745-A7A8-B537-1174-BE0F63826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5130" y="2678001"/>
            <a:ext cx="7652551" cy="349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445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65656-2F0D-B3E5-77AC-B381A4344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Espaço Reservado para Imagem 14">
            <a:extLst>
              <a:ext uri="{FF2B5EF4-FFF2-40B4-BE49-F238E27FC236}">
                <a16:creationId xmlns:a16="http://schemas.microsoft.com/office/drawing/2014/main" id="{1E336A99-EF24-5B43-9875-BE05E4742174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B272AC8-D9F0-DDC9-FC3A-5537B6AB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>
            <a:normAutofit/>
          </a:bodyPr>
          <a:lstStyle/>
          <a:p>
            <a:r>
              <a:rPr lang="pt-BR" dirty="0"/>
              <a:t>Construção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20AA9EB2-59CF-1AF4-119E-9739C2220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23</a:t>
            </a:fld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FF1410-71E1-182D-7E8E-F73B7E937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4043" y="2678001"/>
            <a:ext cx="6846905" cy="323395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C42845D-4F42-909B-5ED2-CFF3357D6F30}"/>
              </a:ext>
            </a:extLst>
          </p:cNvPr>
          <p:cNvSpPr txBox="1"/>
          <p:nvPr/>
        </p:nvSpPr>
        <p:spPr>
          <a:xfrm>
            <a:off x="2517015" y="2093226"/>
            <a:ext cx="77209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rgbClr val="FF0000"/>
                </a:solidFill>
                <a:latin typeface="+mj-lt"/>
              </a:rPr>
              <a:t>Dashboard de Evolução da PDD Publicado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B70BE6-EE57-F5ED-7EB6-C4BA6708EE8C}"/>
              </a:ext>
            </a:extLst>
          </p:cNvPr>
          <p:cNvSpPr txBox="1"/>
          <p:nvPr/>
        </p:nvSpPr>
        <p:spPr>
          <a:xfrm>
            <a:off x="1632751" y="6140906"/>
            <a:ext cx="175851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800" dirty="0">
                <a:solidFill>
                  <a:srgbClr val="FF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 Publicado</a:t>
            </a:r>
            <a:endParaRPr lang="pt-BR" sz="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1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>
            <a:extLst>
              <a:ext uri="{FF2B5EF4-FFF2-40B4-BE49-F238E27FC236}">
                <a16:creationId xmlns:a16="http://schemas.microsoft.com/office/drawing/2014/main" id="{666DFF4F-EA69-6B41-73DC-65AEA38A8A0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2421" r="22421"/>
          <a:stretch>
            <a:fillRect/>
          </a:stretch>
        </p:blipFill>
        <p:spPr/>
      </p:pic>
      <p:sp>
        <p:nvSpPr>
          <p:cNvPr id="32" name="Título 31">
            <a:extLst>
              <a:ext uri="{FF2B5EF4-FFF2-40B4-BE49-F238E27FC236}">
                <a16:creationId xmlns:a16="http://schemas.microsoft.com/office/drawing/2014/main" id="{F2959A91-4FC0-437D-AC15-2DA5FC8C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932546"/>
            <a:ext cx="5021263" cy="2285999"/>
          </a:xfrm>
        </p:spPr>
        <p:txBody>
          <a:bodyPr rtlCol="0"/>
          <a:lstStyle/>
          <a:p>
            <a:pPr rtl="0"/>
            <a:r>
              <a:rPr lang="pt-BR" dirty="0"/>
              <a:t>Resultados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943E7C-A74D-4CB3-844B-51917C88C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17" y="1484357"/>
            <a:ext cx="6608374" cy="3503279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 dirty="0">
                <a:solidFill>
                  <a:srgbClr val="936959"/>
                </a:solidFill>
              </a:rPr>
              <a:t>Maior precisão na projeção da PDD;</a:t>
            </a:r>
          </a:p>
          <a:p>
            <a:pPr lvl="0"/>
            <a:r>
              <a:rPr lang="pt-BR" dirty="0">
                <a:solidFill>
                  <a:srgbClr val="936959"/>
                </a:solidFill>
              </a:rPr>
              <a:t>Identificação antecipada de deterioração da qualidade da carteira;</a:t>
            </a:r>
          </a:p>
          <a:p>
            <a:pPr lvl="0"/>
            <a:r>
              <a:rPr lang="pt-BR" dirty="0">
                <a:solidFill>
                  <a:srgbClr val="936959"/>
                </a:solidFill>
              </a:rPr>
              <a:t>Suporte qualificado à gestão de risco de crédito e à alocação de capital.</a:t>
            </a:r>
          </a:p>
          <a:p>
            <a:r>
              <a:rPr lang="pt-BR" dirty="0">
                <a:solidFill>
                  <a:srgbClr val="936959"/>
                </a:solidFill>
              </a:rPr>
              <a:t>Melhor compreensão do impacto da sazonalidade, choques externos e </a:t>
            </a:r>
            <a:r>
              <a:rPr lang="pt-BR" dirty="0">
                <a:solidFill>
                  <a:srgbClr val="FF0000"/>
                </a:solidFill>
              </a:rPr>
              <a:t>conservação do meio ambiente</a:t>
            </a:r>
            <a:r>
              <a:rPr lang="pt-BR" dirty="0">
                <a:solidFill>
                  <a:srgbClr val="936959"/>
                </a:solidFill>
              </a:rPr>
              <a:t>;</a:t>
            </a:r>
          </a:p>
          <a:p>
            <a:pPr lvl="0"/>
            <a:endParaRPr lang="pt-BR" dirty="0">
              <a:solidFill>
                <a:srgbClr val="936959"/>
              </a:solidFill>
            </a:endParaRP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1FCEF05-3A03-4BED-B0DD-9680C07AD26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713308" y="6356350"/>
            <a:ext cx="1097692" cy="365125"/>
          </a:xfrm>
        </p:spPr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50706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5018B6D-E395-49AD-92AD-AD69E3AB40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243470" y="2251881"/>
            <a:ext cx="7049385" cy="524860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Novas ofertas – linhas de crédito “</a:t>
            </a:r>
            <a:r>
              <a:rPr lang="pt-BR" dirty="0" err="1"/>
              <a:t>e.s.g</a:t>
            </a:r>
            <a:r>
              <a:rPr lang="pt-BR" dirty="0"/>
              <a:t>.”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097279" y="2909308"/>
            <a:ext cx="9864888" cy="3070828"/>
          </a:xfrm>
        </p:spPr>
        <p:txBody>
          <a:bodyPr rtlCol="0"/>
          <a:lstStyle/>
          <a:p>
            <a:pPr rtl="0"/>
            <a:r>
              <a:rPr lang="pt-BR" dirty="0"/>
              <a:t>Pelos dados analisados conclui-se que um dos pontos relevantes que impactam a inadimplência dos clientes é a produtividade da sua safra que cada vez mais é afetada pelas mudanças climáticas.</a:t>
            </a:r>
          </a:p>
          <a:p>
            <a:pPr rtl="0"/>
            <a:r>
              <a:rPr lang="pt-BR" dirty="0"/>
              <a:t>Ofertar linhas créditos ESG com melhores condições aos clientes.</a:t>
            </a:r>
          </a:p>
          <a:p>
            <a:pPr rtl="0"/>
            <a:r>
              <a:rPr lang="pt-BR" dirty="0"/>
              <a:t>Incentiva a sustentabilidade ao meio ambiente</a:t>
            </a:r>
          </a:p>
          <a:p>
            <a:pPr rtl="0"/>
            <a:r>
              <a:rPr lang="pt-BR" dirty="0"/>
              <a:t>Melhora as condições climáticas, logo mitiga risco de prejuízos na safra.</a:t>
            </a:r>
          </a:p>
          <a:p>
            <a:pPr rtl="0"/>
            <a:r>
              <a:rPr lang="pt-BR" dirty="0"/>
              <a:t>Menor inadimplência.</a:t>
            </a:r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FDF02649-7B74-4CBD-BC77-4B93192B7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25</a:t>
            </a:fld>
            <a:endParaRPr lang="pt-BR"/>
          </a:p>
        </p:txBody>
      </p:sp>
      <p:pic>
        <p:nvPicPr>
          <p:cNvPr id="12" name="Espaço Reservado para Imagem 11">
            <a:extLst>
              <a:ext uri="{FF2B5EF4-FFF2-40B4-BE49-F238E27FC236}">
                <a16:creationId xmlns:a16="http://schemas.microsoft.com/office/drawing/2014/main" id="{7BDBF27B-B39F-7B22-8487-B0123753D590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/>
          <a:srcRect t="39775" b="39775"/>
          <a:stretch>
            <a:fillRect/>
          </a:stretch>
        </p:blipFill>
        <p:spPr/>
      </p:pic>
      <p:sp>
        <p:nvSpPr>
          <p:cNvPr id="71" name="Título 70">
            <a:extLst>
              <a:ext uri="{FF2B5EF4-FFF2-40B4-BE49-F238E27FC236}">
                <a16:creationId xmlns:a16="http://schemas.microsoft.com/office/drawing/2014/main" id="{E0FEE499-AB74-47F2-A52F-76A79317E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57201"/>
            <a:ext cx="9997440" cy="1662113"/>
          </a:xfrm>
        </p:spPr>
        <p:txBody>
          <a:bodyPr rtlCol="0"/>
          <a:lstStyle/>
          <a:p>
            <a:pPr rtl="0"/>
            <a:r>
              <a:rPr lang="pt-BR" dirty="0"/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51F1CCF3-7B18-2CEB-ACA6-2B6E9580E28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247" b="1247"/>
          <a:stretch>
            <a:fillRect/>
          </a:stretch>
        </p:blipFill>
        <p:spPr/>
      </p:pic>
      <p:sp>
        <p:nvSpPr>
          <p:cNvPr id="19" name="Espaço Reservado para Texto 18">
            <a:extLst>
              <a:ext uri="{FF2B5EF4-FFF2-40B4-BE49-F238E27FC236}">
                <a16:creationId xmlns:a16="http://schemas.microsoft.com/office/drawing/2014/main" id="{94753837-F8EB-4144-857D-D1C0313831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95044" y="2444620"/>
            <a:ext cx="8212918" cy="2713236"/>
          </a:xfrm>
        </p:spPr>
        <p:txBody>
          <a:bodyPr rtlCol="0"/>
          <a:lstStyle/>
          <a:p>
            <a:pPr rtl="0"/>
            <a:r>
              <a:rPr lang="pt-BR" sz="3600" dirty="0"/>
              <a:t>"Seus dados contam histórias sobre o futuro. Aprenda a ouvi-los."</a:t>
            </a:r>
          </a:p>
        </p:txBody>
      </p:sp>
      <p:sp>
        <p:nvSpPr>
          <p:cNvPr id="18" name="Título 17">
            <a:extLst>
              <a:ext uri="{FF2B5EF4-FFF2-40B4-BE49-F238E27FC236}">
                <a16:creationId xmlns:a16="http://schemas.microsoft.com/office/drawing/2014/main" id="{2EF3A4B2-57A0-42EE-8DCE-BDF1A2756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9978" y="4269105"/>
            <a:ext cx="7766978" cy="484050"/>
          </a:xfrm>
        </p:spPr>
        <p:txBody>
          <a:bodyPr rtlCol="0"/>
          <a:lstStyle/>
          <a:p>
            <a:pPr algn="ctr" rtl="0"/>
            <a:r>
              <a:rPr lang="pt-BR" sz="3600" dirty="0">
                <a:latin typeface="+mj-lt"/>
              </a:rPr>
              <a:t>OBRIGADO!</a:t>
            </a: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835076A-B549-4546-935E-70B9152B052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pt-BR" smtClean="0"/>
              <a:pPr rtl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45607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Dark Wood">
      <a:dk1>
        <a:srgbClr val="192A2E"/>
      </a:dk1>
      <a:lt1>
        <a:srgbClr val="FFFFFF"/>
      </a:lt1>
      <a:dk2>
        <a:srgbClr val="936959"/>
      </a:dk2>
      <a:lt2>
        <a:srgbClr val="576466"/>
      </a:lt2>
      <a:accent1>
        <a:srgbClr val="192A2E"/>
      </a:accent1>
      <a:accent2>
        <a:srgbClr val="41536D"/>
      </a:accent2>
      <a:accent3>
        <a:srgbClr val="7F3A33"/>
      </a:accent3>
      <a:accent4>
        <a:srgbClr val="B2714B"/>
      </a:accent4>
      <a:accent5>
        <a:srgbClr val="D5C9BD"/>
      </a:accent5>
      <a:accent6>
        <a:srgbClr val="8D9C95"/>
      </a:accent6>
      <a:hlink>
        <a:srgbClr val="EAEAEA"/>
      </a:hlink>
      <a:folHlink>
        <a:srgbClr val="954F72"/>
      </a:folHlink>
    </a:clrScheme>
    <a:fontScheme name="Dark Wood">
      <a:majorFont>
        <a:latin typeface="Bodoni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8847000_TF00564740_Win32" id="{15D3B0AC-57A3-4631-A70E-EBA08DDCBF78}" vid="{9B4A28C4-2DC1-4ED8-8EBD-35BC43CC77E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94F112-2C18-4A4B-8670-27820EBCA1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1EA95FB-CA08-49B7-ACB3-F9D3CF51D93A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71BCEA-BFD4-4A19-A553-5C9F87CB8F2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em madeira escura</Template>
  <TotalTime>11700</TotalTime>
  <Words>488</Words>
  <Application>Microsoft Office PowerPoint</Application>
  <PresentationFormat>Widescreen</PresentationFormat>
  <Paragraphs>130</Paragraphs>
  <Slides>26</Slides>
  <Notes>26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1" baseType="lpstr">
      <vt:lpstr>Arial</vt:lpstr>
      <vt:lpstr>Avenir Next LT Pro</vt:lpstr>
      <vt:lpstr>Bodoni MT</vt:lpstr>
      <vt:lpstr>Calibri</vt:lpstr>
      <vt:lpstr>Tema do Office</vt:lpstr>
      <vt:lpstr>PROVISÃO DE DEVEDORES DUVIDOSOS (PDD) PARA LINHAS DE CRÉDITO FINANCEIRAS PRIVADAS DESTINADAS AO CUSTEIO DO AGRONEGÓCIO</vt:lpstr>
      <vt:lpstr>Agenda</vt:lpstr>
      <vt:lpstr>Quem somos</vt:lpstr>
      <vt:lpstr>Introdução</vt:lpstr>
      <vt:lpstr>Contexto de Negócio</vt:lpstr>
      <vt:lpstr>Proposta de Solução</vt:lpstr>
      <vt:lpstr>Arquitetura</vt:lpstr>
      <vt:lpstr>Ferramentas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Construção</vt:lpstr>
      <vt:lpstr>Resultados</vt:lpstr>
      <vt:lpstr>Próximos Passos</vt:lpstr>
      <vt:lpstr>OBRIGADO!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Nascimento</dc:creator>
  <cp:lastModifiedBy>Leonardo Nascimento</cp:lastModifiedBy>
  <cp:revision>25</cp:revision>
  <dcterms:created xsi:type="dcterms:W3CDTF">2026-01-17T22:59:07Z</dcterms:created>
  <dcterms:modified xsi:type="dcterms:W3CDTF">2026-02-04T22:04:51Z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